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entation.xml" ContentType="application/vnd.openxmlformats-officedocument.presentationml.presentation.main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</p:sldMasterIdLst>
  <p:sldIdLst>
    <p:sldId id="256" r:id="rId5"/>
    <p:sldId id="257" r:id="rId6"/>
    <p:sldId id="258" r:id="rId7"/>
    <p:sldId id="259" r:id="rId8"/>
    <p:sldId id="260" r:id="rId9"/>
    <p:sldId id="261" r:id="rId10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720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643900A-F9D0-4FD9-B754-E31462D2458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720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FA8FE0E-B690-40D5-BA64-E96C0564ADC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08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720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34CD67C-1A4F-441A-843A-EC7AD621721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08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720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9C110F1-FD98-41FD-8EE1-FEAC9E9D1B2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52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720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6959870-8EEF-4E03-BA19-138D8AF3F6E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52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52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720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BB238C1-5E9A-4DBC-AD91-56A3C96F893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720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4E3ECA7-8F25-4726-BFD6-A1D47F6B96B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720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2028117-D5CB-41BC-AA52-BE7A2223458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720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C62EE82-DB07-4E5B-9B19-03AA266E2C2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720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D3D099B-0571-4C3C-9974-48D91238D80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52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720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49E63CD-148F-4E06-B344-DA377F157F0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08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08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720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70AFE3C-310A-4901-8908-1FB5DF0F06A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720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61426DF-D5D1-4643-8534-17FDE2DB3E5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720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A814AA8-F25A-423B-BDAD-9709496D2D9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08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720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B52E45E-F62D-49D6-AA3D-D6AA474BF15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08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5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720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8630457-9A17-42C6-9F54-082C72C16D0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52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720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C548815-58F2-467B-BDD9-75156620F5C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52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52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720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FE6C28A-60BF-4331-A2B3-F9FBF9B284E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6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720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75C30A5-2939-4A1B-BB55-7946CD2A8E7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8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720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3B34A48-28F0-4AFD-BF58-1349A0C1201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720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18CAE20-3C4C-44B0-B8E0-ADD1765FD2F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720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DCCE894-FBE4-4F77-9BDD-E91C6209A66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52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720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B9ACCC2-6106-4774-8487-836F31D685C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08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08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720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8D8068E-B220-4B6A-9BA9-A47B663561C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29127FBE-28A3-451E-A8A7-DFEE004EAD00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FF5083E-0E4F-42C4-A585-5EE272C0741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2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9040" cy="216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 19 - Sprint 9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Análisis de negocio: Cohortes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440" cy="19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PlaceHolder 2"/>
          <p:cNvSpPr>
            <a:spLocks noGrp="1"/>
          </p:cNvSpPr>
          <p:nvPr>
            <p:ph type="subTitle"/>
          </p:nvPr>
        </p:nvSpPr>
        <p:spPr>
          <a:xfrm>
            <a:off x="152280" y="3202200"/>
            <a:ext cx="8685360" cy="31651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fld id="{E7E35565-5B36-4441-B1DA-E03548FA1504}" type="datetime5">
              <a:rPr b="0" lang="en" sz="1200" strike="noStrike" u="none">
                <a:solidFill>
                  <a:srgbClr val="2a2a2a"/>
                </a:solidFill>
                <a:effectLst/>
                <a:uFillTx/>
                <a:latin typeface="Inter Medium"/>
                <a:ea typeface="Inter Medium"/>
              </a:rPr>
              <a:t>Aug 27, 2025</a:t>
            </a:fld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subTitle"/>
          </p:nvPr>
        </p:nvSpPr>
        <p:spPr>
          <a:xfrm>
            <a:off x="277920" y="1322280"/>
            <a:ext cx="8519040" cy="35370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1800" strike="noStrike" u="none">
                <a:solidFill>
                  <a:srgbClr val="1a1a1a"/>
                </a:solidFill>
                <a:effectLst/>
                <a:uFillTx/>
                <a:latin typeface="Verdana"/>
                <a:ea typeface="Inter"/>
              </a:rPr>
              <a:t>⭐Introducción  (5 min)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1800" strike="noStrike" u="none">
                <a:solidFill>
                  <a:srgbClr val="1a1a1a"/>
                </a:solidFill>
                <a:effectLst/>
                <a:uFillTx/>
                <a:latin typeface="Verdana"/>
                <a:ea typeface="Inter"/>
              </a:rPr>
              <a:t>Ejemplo práctico ( Análisis de cohortes) (80 min)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1800" strike="noStrike" u="none">
                <a:solidFill>
                  <a:srgbClr val="1a1a1a"/>
                </a:solidFill>
                <a:effectLst/>
                <a:uFillTx/>
                <a:latin typeface="Verdana"/>
                <a:ea typeface="Inter"/>
              </a:rPr>
              <a:t>📊 Midiendo resultados: Cohortes, embudos de conversión y su interpretación práctica 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1800" strike="noStrike" u="none">
                <a:solidFill>
                  <a:srgbClr val="1a1a1a"/>
                </a:solidFill>
                <a:effectLst/>
                <a:uFillTx/>
                <a:latin typeface="Verdana"/>
                <a:ea typeface="Inter"/>
              </a:rPr>
              <a:t>💰 Evaluando impacto: LTV, CAC 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1800" strike="noStrike" u="none">
                <a:solidFill>
                  <a:srgbClr val="1a1a1a"/>
                </a:solidFill>
                <a:effectLst/>
                <a:uFillTx/>
                <a:latin typeface="Verdana"/>
                <a:ea typeface="Inter"/>
              </a:rPr>
              <a:t>🤔 Reflexión y discusión: aprendizajes clave y aplicaciones al mundo real (10 min)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3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440" cy="19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040" cy="10407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213;p33"/>
          <p:cNvSpPr/>
          <p:nvPr/>
        </p:nvSpPr>
        <p:spPr>
          <a:xfrm>
            <a:off x="228600" y="1952280"/>
            <a:ext cx="2723400" cy="296100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Entender qué es una cohorte y cómo analizar retención de usuarios.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Google Shape;214;p33"/>
          <p:cNvSpPr/>
          <p:nvPr/>
        </p:nvSpPr>
        <p:spPr>
          <a:xfrm>
            <a:off x="3209400" y="1952280"/>
            <a:ext cx="2723400" cy="296100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Calcular LTV y CAC para medir rentabilidad del negocio.  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Google Shape;215;p33"/>
          <p:cNvSpPr/>
          <p:nvPr/>
        </p:nvSpPr>
        <p:spPr>
          <a:xfrm>
            <a:off x="6190560" y="1952280"/>
            <a:ext cx="2723400" cy="296100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Interpretar métricas para guiar decisiones de adquisición y retención.  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8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440" cy="19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040" cy="10407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73040" cy="75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1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73040" cy="75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2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73040" cy="759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d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07;p2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520" cy="194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4" name="" descr=""/>
          <p:cNvPicPr/>
          <p:nvPr/>
        </p:nvPicPr>
        <p:blipFill>
          <a:blip r:embed="rId2"/>
          <a:stretch/>
        </p:blipFill>
        <p:spPr>
          <a:xfrm>
            <a:off x="2160000" y="567000"/>
            <a:ext cx="5940000" cy="396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20120" cy="80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Reflexiona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9040" cy="25268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!Vayamos a la práctica!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7240" cy="190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9040" cy="10407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9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4040" cy="643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0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5440" cy="192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1462</TotalTime>
  <Application>LibreOffice/25.8.0.4$Windows_X86_64 LibreOffice_project/48f00303701489684e67c38c28aff00cd5929e67</Application>
  <AppVersion>15.0000</AppVersion>
  <Words>1567</Words>
  <Paragraphs>165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2025-08-27T16:05:46Z</dcterms:modified>
  <cp:revision>21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35</vt:i4>
  </property>
  <property fmtid="{D5CDD505-2E9C-101B-9397-08002B2CF9AE}" pid="3" name="Notes">
    <vt:i4>46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46</vt:i4>
  </property>
</Properties>
</file>