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entation.xml" ContentType="application/vnd.openxmlformats-officedocument.presentationml.presentation.main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_rels/slideMaster13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25.xml.rels" ContentType="application/vnd.openxmlformats-package.relationships+xml"/>
  <Override PartName="/ppt/slideLayouts/slideLayout2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_rels/slideLayout2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2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11.png" ContentType="image/png"/>
  <Override PartName="/ppt/media/image8.png" ContentType="image/png"/>
  <Override PartName="/ppt/media/image3.png" ContentType="image/png"/>
  <Override PartName="/ppt/media/image2.jpeg" ContentType="image/jpe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10.png" ContentType="image/png"/>
  <Override PartName="/ppt/media/image9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5.png" ContentType="image/png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4.xml" ContentType="application/vnd.openxmlformats-officedocument.presentationml.slide+xml"/>
  <Override PartName="/ppt/slides/slide7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_rels/slide22.xml.rels" ContentType="application/vnd.openxmlformats-package.relationships+xml"/>
  <Override PartName="/ppt/slides/_rels/slide18.xml.rels" ContentType="application/vnd.openxmlformats-package.relationships+xml"/>
  <Override PartName="/ppt/slides/_rels/slide1.xml.rels" ContentType="application/vnd.openxmlformats-package.relationships+xml"/>
  <Override PartName="/ppt/slides/_rels/slide20.xml.rels" ContentType="application/vnd.openxmlformats-package.relationships+xml"/>
  <Override PartName="/ppt/slides/_rels/slide2.xml.rels" ContentType="application/vnd.openxmlformats-package.relationships+xml"/>
  <Override PartName="/ppt/slides/_rels/slide21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25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26.xml.rels" ContentType="application/vnd.openxmlformats-package.relationships+xml"/>
  <Override PartName="/ppt/slides/_rels/slide10.xml.rels" ContentType="application/vnd.openxmlformats-package.relationships+xml"/>
  <Override PartName="/ppt/slides/_rels/slide9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9.xml.rels" ContentType="application/vnd.openxmlformats-package.relationships+xml"/>
  <Override PartName="/ppt/slides/_rels/slide27.xml.rels" ContentType="application/vnd.openxmlformats-package.relationships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</p:sldIdLst>
  <p:sldSz cx="9144000" cy="51435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3.xml"/><Relationship Id="rId4" Type="http://schemas.openxmlformats.org/officeDocument/2006/relationships/slideMaster" Target="slideMasters/slideMaster2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F8B6A56-36E3-4C32-8B75-6ED902F1703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BB19597-535D-4212-B5E0-CBA0A6B3BA3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B008377-E101-4680-B967-4C5840DA3DF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92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92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92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92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92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92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8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088E4E4-54EB-44C6-814B-5F71BFCB0EAB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27D7D63-D1A0-4FD9-A98D-1458D626EF76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8645EC0-9658-4DC6-BD15-E40ECD48A555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9850560-2CAB-4C5F-BAD7-9F945722AD8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F7DFDB9-01B2-4694-8436-B87671177D5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B87F6FA-219D-4B2A-A471-ECF8412D3F2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Centered 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05674C9-7618-420C-B870-BCCF2545FBD5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1EB320A-2E73-4621-9675-26439727B7C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sldNum" idx="12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1A3C6C2-AE64-4101-924D-B84F2B365AC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Predeterminado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sldNum" idx="13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EF506BD-661B-4A34-A1F2-006EEE5DCCE6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Predeterminado 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sldNum" idx="14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0C451A0-A0FD-40F8-8631-BCE1F8D9E74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Predeterminado 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6"/>
          <p:cNvSpPr>
            <a:spLocks noGrp="1"/>
          </p:cNvSpPr>
          <p:nvPr>
            <p:ph type="sldNum" idx="15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F055862-2B13-4351-82A7-7A15495B19F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3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92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92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92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92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92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92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8"/>
          <p:cNvSpPr>
            <a:spLocks noGrp="1"/>
          </p:cNvSpPr>
          <p:nvPr>
            <p:ph type="sldNum" idx="16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E11B779-2C74-4A97-9B78-04CA2EB8E46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4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sldNum" idx="17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A8B3988-C005-43F4-8AAB-5F52012F200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redeterminado 5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sldNum" idx="18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51D1357-BC5C-4478-B932-AA1F803B358E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Predeterminado 6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sldNum" idx="19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1C1DA8E-88E9-4825-99F6-9C1407621BC7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redeterminado 7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4"/>
          <p:cNvSpPr>
            <a:spLocks noGrp="1"/>
          </p:cNvSpPr>
          <p:nvPr>
            <p:ph type="sldNum" idx="20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6B276A2-3C67-4314-9622-BC16D338C4C7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redeterminado 8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sldNum" idx="21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E3D7DD8-382A-4845-8C67-ED75AAD2A48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Predeterminado 9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sldNum" idx="22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3F025AC-EB88-4CFA-AF37-088D8472C3A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Predeterminado 10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5"/>
          <p:cNvSpPr>
            <a:spLocks noGrp="1"/>
          </p:cNvSpPr>
          <p:nvPr>
            <p:ph type="sldNum" idx="23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B94BEA7-E69E-434D-A315-64DE72426BFB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Predeterminado 1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PlaceHolder 5"/>
          <p:cNvSpPr>
            <a:spLocks noGrp="1"/>
          </p:cNvSpPr>
          <p:nvPr>
            <p:ph type="sldNum" idx="24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8C02555-9D1C-4688-A12E-9061AB0CCC5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5"/>
          </p:nvPr>
        </p:nvSpPr>
        <p:spPr/>
        <p:txBody>
          <a:bodyPr/>
          <a:p>
            <a:fld id="{87921EBA-2BA7-4BE0-B368-7836A7DB3DE2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sldNum" idx="25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3412067-F750-4F88-9864-7C26FD3CC442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MX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5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7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2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1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2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2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7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5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7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slideLayout" Target="../slideLayouts/slideLayout25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7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7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7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7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3.png"/><Relationship Id="rId3" Type="http://schemas.openxmlformats.org/officeDocument/2006/relationships/slideLayout" Target="../slideLayouts/slideLayout25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3.png"/><Relationship Id="rId3" Type="http://schemas.openxmlformats.org/officeDocument/2006/relationships/slideLayout" Target="../slideLayouts/slideLayout25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7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3.png"/><Relationship Id="rId3" Type="http://schemas.openxmlformats.org/officeDocument/2006/relationships/slideLayout" Target="../slideLayouts/slideLayout25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7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7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4.png"/><Relationship Id="rId3" Type="http://schemas.openxmlformats.org/officeDocument/2006/relationships/slideLayout" Target="../slideLayouts/slideLayout25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64080" y="638280"/>
            <a:ext cx="8519040" cy="216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Sesión 0:</a:t>
            </a:r>
            <a:br>
              <a:rPr sz="6000"/>
            </a:br>
            <a:r>
              <a:rPr b="0" lang="en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 Post-Onboarding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s-MX" sz="20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Introducción y Bienvenida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2" name="Google Shape;34;p14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5440" cy="19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3" name=""/>
          <p:cNvSpPr/>
          <p:nvPr/>
        </p:nvSpPr>
        <p:spPr>
          <a:xfrm>
            <a:off x="144360" y="4612680"/>
            <a:ext cx="1983240" cy="33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fld id="{069EC68B-87FC-4FE9-BDC9-C0459FDEE64E}" type="datetime5">
              <a:rPr b="0" i="1" lang="es-MX" sz="15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28 de sep de 2025</a:t>
            </a:fld>
            <a:endParaRPr b="0" lang="es-MX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240;p36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5440" cy="19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36920" cy="347400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¡Bienvenidos!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69;p 1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6520" cy="194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96840" y="424800"/>
            <a:ext cx="8520120" cy="80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Sobre mi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title"/>
          </p:nvPr>
        </p:nvSpPr>
        <p:spPr>
          <a:xfrm>
            <a:off x="180000" y="4030560"/>
            <a:ext cx="5391360" cy="1189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32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Román Castillo Casanova</a:t>
            </a:r>
            <a:br>
              <a:rPr sz="3200"/>
            </a:br>
            <a:r>
              <a:rPr b="0" lang="en" sz="1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Tutor</a:t>
            </a: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9" name="" descr=""/>
          <p:cNvPicPr/>
          <p:nvPr/>
        </p:nvPicPr>
        <p:blipFill>
          <a:blip r:embed="rId2"/>
          <a:stretch/>
        </p:blipFill>
        <p:spPr>
          <a:xfrm>
            <a:off x="5243760" y="720000"/>
            <a:ext cx="3373200" cy="3373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240;p 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5440" cy="19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36920" cy="347400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Y ahora, ¿tú eres? 🫡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subTitle"/>
          </p:nvPr>
        </p:nvSpPr>
        <p:spPr>
          <a:xfrm>
            <a:off x="152280" y="1465560"/>
            <a:ext cx="8519040" cy="354060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75920" indent="-39672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s-CO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👋 Bienvenida y presentación (</a:t>
            </a:r>
            <a:r>
              <a:rPr b="0" i="1" lang="es-CO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15-25 min</a:t>
            </a:r>
            <a:r>
              <a:rPr b="0" lang="es-CO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)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75920" indent="-39672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s-CO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📊 ¿Qué hace una analista de datos? (</a:t>
            </a:r>
            <a:r>
              <a:rPr b="0" i="1" lang="es-CO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20 min</a:t>
            </a:r>
            <a:r>
              <a:rPr b="0" lang="es-CO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)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75920" indent="-39672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s-CO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📚 Nuestro curso: cómo aprovecharlo al máximo (</a:t>
            </a:r>
            <a:r>
              <a:rPr b="0" i="1" lang="es-CO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45–60 min</a:t>
            </a:r>
            <a:r>
              <a:rPr b="0" lang="es-CO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)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⚙️ Cómo funciona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✅ Qué tengo que hacer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🙋 Cómo pedir ayuda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75920" indent="-39672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s-CO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Cierre y siguientes pasos (</a:t>
            </a:r>
            <a:r>
              <a:rPr b="0" i="1" lang="es-CO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5 min</a:t>
            </a:r>
            <a:r>
              <a:rPr b="0" lang="es-CO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)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75920" indent="-39672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3" name="Google Shape;49;p16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5440" cy="19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4" name="PlaceHolder 2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9040" cy="10407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Agenda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213;p33"/>
          <p:cNvSpPr/>
          <p:nvPr/>
        </p:nvSpPr>
        <p:spPr>
          <a:xfrm>
            <a:off x="228600" y="1952280"/>
            <a:ext cx="2723400" cy="296100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Presentar la metodología del curso y la dinámica de trabajo.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Google Shape;214;p33"/>
          <p:cNvSpPr/>
          <p:nvPr/>
        </p:nvSpPr>
        <p:spPr>
          <a:xfrm>
            <a:off x="3209400" y="1952280"/>
            <a:ext cx="2723400" cy="296100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s-CO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Hacer un recorrido general por los contenidos del curso 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Google Shape;215;p33"/>
          <p:cNvSpPr/>
          <p:nvPr/>
        </p:nvSpPr>
        <p:spPr>
          <a:xfrm>
            <a:off x="6190560" y="1952280"/>
            <a:ext cx="2723400" cy="296100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Alinear expectativas sobre qué se espera de cada estudiante.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8" name="Google Shape;216;p3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5440" cy="19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180000" y="579240"/>
            <a:ext cx="8519040" cy="10407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Objetivo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0" name="Google Shape;218;p33" descr=""/>
          <p:cNvPicPr/>
          <p:nvPr/>
        </p:nvPicPr>
        <p:blipFill>
          <a:blip r:embed="rId2"/>
          <a:stretch/>
        </p:blipFill>
        <p:spPr>
          <a:xfrm>
            <a:off x="424800" y="2191320"/>
            <a:ext cx="473040" cy="759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1" name="Google Shape;219;p33" descr=""/>
          <p:cNvPicPr/>
          <p:nvPr/>
        </p:nvPicPr>
        <p:blipFill>
          <a:blip r:embed="rId3"/>
          <a:stretch/>
        </p:blipFill>
        <p:spPr>
          <a:xfrm>
            <a:off x="3468960" y="2191320"/>
            <a:ext cx="473040" cy="759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2" name="Google Shape;220;p33" descr=""/>
          <p:cNvPicPr/>
          <p:nvPr/>
        </p:nvPicPr>
        <p:blipFill>
          <a:blip r:embed="rId4"/>
          <a:stretch/>
        </p:blipFill>
        <p:spPr>
          <a:xfrm>
            <a:off x="6407280" y="2191320"/>
            <a:ext cx="473040" cy="759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240;p 1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5440" cy="19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36920" cy="347400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¿Que hace una analista de datos?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07;p21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6520" cy="194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96840" y="424800"/>
            <a:ext cx="8520120" cy="1402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📊 El boom de los datos</a:t>
            </a:r>
            <a:br>
              <a:rPr sz="4000"/>
            </a:b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Google Shape;109;p 2"/>
          <p:cNvSpPr/>
          <p:nvPr/>
        </p:nvSpPr>
        <p:spPr>
          <a:xfrm>
            <a:off x="228600" y="1490760"/>
            <a:ext cx="4240440" cy="3423960"/>
          </a:xfrm>
          <a:prstGeom prst="roundRect">
            <a:avLst>
              <a:gd name="adj" fmla="val 4989"/>
            </a:avLst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Google Shape;110;p 2"/>
          <p:cNvSpPr/>
          <p:nvPr/>
        </p:nvSpPr>
        <p:spPr>
          <a:xfrm>
            <a:off x="4674600" y="1490760"/>
            <a:ext cx="4240440" cy="3423960"/>
          </a:xfrm>
          <a:prstGeom prst="roundRect">
            <a:avLst>
              <a:gd name="adj" fmla="val 5630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182880" bIns="274320" anchor="t">
            <a:noAutofit/>
          </a:bodyPr>
          <a:p>
            <a:pPr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" sz="1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Vivimos en la era de los datos: cada interacción digital genera información valiosa. 🌍 Hoy, las empresas necesitan aprovechar esos datos para decidir mejor, innovar y crecer. Por eso, la demanda de profesionales en Data Analytics y Data Science 🚀 es una de las más altas del mercado. </a:t>
            </a: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9"/>
              </a:spcBef>
              <a:tabLst>
                <a:tab algn="l" pos="0"/>
              </a:tabLst>
            </a:pP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07;p 1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6520" cy="194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96840" y="424800"/>
            <a:ext cx="8520120" cy="1280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" sz="36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👩‍💻Roles en el mundo de los datos🧑‍💻</a:t>
            </a:r>
            <a:br>
              <a:rPr sz="3600"/>
            </a:br>
            <a:endParaRPr b="0" lang="es-MX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1" name="" descr=""/>
          <p:cNvPicPr/>
          <p:nvPr/>
        </p:nvPicPr>
        <p:blipFill>
          <a:blip r:embed="rId2"/>
          <a:srcRect l="0" t="24277" r="0" b="2228"/>
          <a:stretch/>
        </p:blipFill>
        <p:spPr>
          <a:xfrm>
            <a:off x="745200" y="1080360"/>
            <a:ext cx="7714800" cy="3779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49;p26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6520" cy="194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96840" y="424800"/>
            <a:ext cx="8520120" cy="80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¿Que hace un analista de datos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Google Shape;151;p 2"/>
          <p:cNvSpPr/>
          <p:nvPr/>
        </p:nvSpPr>
        <p:spPr>
          <a:xfrm>
            <a:off x="228600" y="1490760"/>
            <a:ext cx="2084400" cy="3423960"/>
          </a:xfrm>
          <a:prstGeom prst="roundRect">
            <a:avLst>
              <a:gd name="adj" fmla="val 5630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0" anchor="t">
            <a:noAutofit/>
          </a:bodyPr>
          <a:p>
            <a:pPr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" sz="16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Recolecta y limpia información </a:t>
            </a:r>
            <a:endParaRPr b="0" lang="es-MX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tabLst>
                <a:tab algn="l" pos="0"/>
              </a:tabLst>
            </a:pPr>
            <a:r>
              <a:rPr b="0" lang="en" sz="12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Antes de analizar, los datos deben estar listos. Por ejemplo: quitar registros duplicados o corregir fechas mal escritas en una base de clientes.</a:t>
            </a:r>
            <a:endParaRPr b="0" lang="es-MX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Google Shape;152;p 2"/>
          <p:cNvSpPr/>
          <p:nvPr/>
        </p:nvSpPr>
        <p:spPr>
          <a:xfrm>
            <a:off x="2446200" y="1490760"/>
            <a:ext cx="2084400" cy="3423960"/>
          </a:xfrm>
          <a:prstGeom prst="roundRect">
            <a:avLst>
              <a:gd name="adj" fmla="val 5630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0" anchor="t">
            <a:noAutofit/>
          </a:bodyPr>
          <a:p>
            <a:pPr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" sz="16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Define métricas y KPIs </a:t>
            </a:r>
            <a:endParaRPr b="0" lang="es-MX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tabLst>
                <a:tab algn="l" pos="0"/>
              </a:tabLst>
            </a:pPr>
            <a:r>
              <a:rPr b="0" lang="en" sz="12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Decide qué medir para saber si vamos bien o mal. Ejemplo: en una tienda online, definir tasa de conversión = (ventas / visitas).</a:t>
            </a:r>
            <a:endParaRPr b="0" lang="es-MX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Google Shape;153;p 2"/>
          <p:cNvSpPr/>
          <p:nvPr/>
        </p:nvSpPr>
        <p:spPr>
          <a:xfrm>
            <a:off x="4638240" y="1490760"/>
            <a:ext cx="2084400" cy="3423960"/>
          </a:xfrm>
          <a:prstGeom prst="roundRect">
            <a:avLst>
              <a:gd name="adj" fmla="val 5630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0" anchor="t">
            <a:noAutofit/>
          </a:bodyPr>
          <a:p>
            <a:pPr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" sz="16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Comunica hallazgos con storytelling ✨ </a:t>
            </a:r>
            <a:endParaRPr b="0" lang="es-MX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tabLst>
                <a:tab algn="l" pos="0"/>
              </a:tabLst>
            </a:pPr>
            <a:r>
              <a:rPr b="0" lang="en" sz="12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No solo muestra números, sino que cuenta una historia. Ejemplo: explicar cómo las ventas subieron después de una campaña en redes.</a:t>
            </a:r>
            <a:endParaRPr b="0" lang="es-MX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Google Shape;154;p 2"/>
          <p:cNvSpPr/>
          <p:nvPr/>
        </p:nvSpPr>
        <p:spPr>
          <a:xfrm>
            <a:off x="6830640" y="1490760"/>
            <a:ext cx="2084400" cy="3423960"/>
          </a:xfrm>
          <a:prstGeom prst="roundRect">
            <a:avLst>
              <a:gd name="adj" fmla="val 5630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0" anchor="t">
            <a:noAutofit/>
          </a:bodyPr>
          <a:p>
            <a:pPr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" sz="16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Convierte datos → decisiones</a:t>
            </a:r>
            <a:endParaRPr b="0" lang="es-MX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" sz="12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El objetivo final: que el negocio actúe con base en evidencia. Ejemplo: recomendar invertir más en el canal que trae más clientes recurrentes.</a:t>
            </a:r>
            <a:endParaRPr b="0" lang="es-MX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240;p 2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5440" cy="19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36920" cy="347400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¿Cómo funciona el bootcamp?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89;p30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6520" cy="194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96840" y="424800"/>
            <a:ext cx="8520120" cy="80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Contenido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"/>
          <p:cNvSpPr txBox="1"/>
          <p:nvPr/>
        </p:nvSpPr>
        <p:spPr>
          <a:xfrm>
            <a:off x="1404000" y="1185120"/>
            <a:ext cx="8640000" cy="3994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Sprint 1:</a:t>
            </a: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Asegura la calidad de los datos y genera reportes básicos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Sprint 2:</a:t>
            </a: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Transforma datos para insights de negocio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Sprint 3</a:t>
            </a: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: Explora KPIs con SQL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Sprint 4</a:t>
            </a: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: Analiza journeys de usuarios con SQL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Sprint 5</a:t>
            </a: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: Prepara y estructura datos con Python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Sprint 6</a:t>
            </a: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: Análisis estadístico para detectar patrones y outliers (Proyecto 1)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Sprint 7</a:t>
            </a: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: Curso de preparación de carrera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Sprint 8</a:t>
            </a: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: Explora las conexiones de datos con correlaciones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Sprint 9</a:t>
            </a: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: Valida hipótesis de negocio con pruebas estadísticas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Sprint 10</a:t>
            </a: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: Construye historias visuales claras con gráficos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Sprint 11</a:t>
            </a: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: Crea dashboards interactivos para stakeholders (Proyecto 2)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Sprint 12</a:t>
            </a: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: Proyecto final 🚀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96840" y="2386440"/>
            <a:ext cx="8519040" cy="252684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f2f1ee"/>
                </a:solidFill>
                <a:effectLst/>
                <a:uFillTx/>
                <a:latin typeface="Inter ExtraBold"/>
                <a:ea typeface="Inter ExtraBold"/>
              </a:rPr>
              <a:t>¡Echemos ojo !</a:t>
            </a:r>
            <a:endParaRPr b="0" lang="es-MX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4" name="Google Shape;235;p 1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7240" cy="190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9;p 1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6520" cy="194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96840" y="424800"/>
            <a:ext cx="8520120" cy="80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¿Que herramientas necesito?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Google Shape;151;p 3"/>
          <p:cNvSpPr/>
          <p:nvPr/>
        </p:nvSpPr>
        <p:spPr>
          <a:xfrm>
            <a:off x="180000" y="1490760"/>
            <a:ext cx="2084400" cy="3423960"/>
          </a:xfrm>
          <a:prstGeom prst="roundRect">
            <a:avLst>
              <a:gd name="adj" fmla="val 5630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0" anchor="t">
            <a:noAutofit/>
          </a:bodyPr>
          <a:p>
            <a:pPr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MX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tabLst>
                <a:tab algn="l" pos="0"/>
              </a:tabLst>
            </a:pPr>
            <a:r>
              <a:rPr b="0" lang="en" sz="12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Aqui no estaremos conectando en las diferentes sesiones. Te recomiendo instalar la aplicación de escritorio o  la movil en vez de usar la versión del navegador</a:t>
            </a:r>
            <a:endParaRPr b="0" lang="es-MX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Google Shape;152;p 3"/>
          <p:cNvSpPr/>
          <p:nvPr/>
        </p:nvSpPr>
        <p:spPr>
          <a:xfrm>
            <a:off x="2446200" y="1490760"/>
            <a:ext cx="2084400" cy="3423960"/>
          </a:xfrm>
          <a:prstGeom prst="roundRect">
            <a:avLst>
              <a:gd name="adj" fmla="val 5630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0" anchor="t">
            <a:noAutofit/>
          </a:bodyPr>
          <a:p>
            <a:pPr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MX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tabLst>
                <a:tab algn="l" pos="0"/>
              </a:tabLst>
            </a:pPr>
            <a:r>
              <a:rPr b="0" lang="en" sz="12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Principal canal de comunicación de texto/audio. Aqui podrás dejar tus preguntas, compartir inquietudes y convivir con el equipo de tripleten</a:t>
            </a:r>
            <a:endParaRPr b="0" lang="es-MX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Google Shape;153;p 3"/>
          <p:cNvSpPr/>
          <p:nvPr/>
        </p:nvSpPr>
        <p:spPr>
          <a:xfrm>
            <a:off x="4638240" y="1490760"/>
            <a:ext cx="2084400" cy="3423960"/>
          </a:xfrm>
          <a:prstGeom prst="roundRect">
            <a:avLst>
              <a:gd name="adj" fmla="val 5630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0" anchor="t">
            <a:noAutofit/>
          </a:bodyPr>
          <a:p>
            <a:pPr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MX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tabLst>
                <a:tab algn="l" pos="0"/>
              </a:tabLst>
            </a:pPr>
            <a:r>
              <a:rPr b="0" lang="en" sz="12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No es obligatorio pero estaremos trabajando con muchos recursos de la nube de google. Es una herramienta muy útil para gestionar todo el material que irás generando en el curso</a:t>
            </a:r>
            <a:endParaRPr b="0" lang="es-MX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Google Shape;154;p 3"/>
          <p:cNvSpPr/>
          <p:nvPr/>
        </p:nvSpPr>
        <p:spPr>
          <a:xfrm>
            <a:off x="6830640" y="1490760"/>
            <a:ext cx="2084400" cy="3423960"/>
          </a:xfrm>
          <a:prstGeom prst="roundRect">
            <a:avLst>
              <a:gd name="adj" fmla="val 5630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0" anchor="t">
            <a:noAutofit/>
          </a:bodyPr>
          <a:p>
            <a:pPr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MX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" sz="12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Ambiente interactivo para ejecutar python, usa recursos computacionales de google de forma gratuita.</a:t>
            </a:r>
            <a:endParaRPr b="0" lang="es-MX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1" name="" descr=""/>
          <p:cNvPicPr/>
          <p:nvPr/>
        </p:nvPicPr>
        <p:blipFill>
          <a:blip r:embed="rId2"/>
          <a:stretch/>
        </p:blipFill>
        <p:spPr>
          <a:xfrm>
            <a:off x="407520" y="1620000"/>
            <a:ext cx="1572480" cy="481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2" name="" descr=""/>
          <p:cNvPicPr/>
          <p:nvPr/>
        </p:nvPicPr>
        <p:blipFill>
          <a:blip r:embed="rId3"/>
          <a:stretch/>
        </p:blipFill>
        <p:spPr>
          <a:xfrm>
            <a:off x="4860000" y="1620000"/>
            <a:ext cx="1460880" cy="392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3" name="" descr=""/>
          <p:cNvPicPr/>
          <p:nvPr/>
        </p:nvPicPr>
        <p:blipFill>
          <a:blip r:embed="rId4"/>
          <a:stretch/>
        </p:blipFill>
        <p:spPr>
          <a:xfrm>
            <a:off x="2618640" y="1383120"/>
            <a:ext cx="1701360" cy="956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4" name="" descr=""/>
          <p:cNvPicPr/>
          <p:nvPr/>
        </p:nvPicPr>
        <p:blipFill>
          <a:blip r:embed="rId5"/>
          <a:stretch/>
        </p:blipFill>
        <p:spPr>
          <a:xfrm>
            <a:off x="7427160" y="1595160"/>
            <a:ext cx="672840" cy="384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240;p36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5440" cy="19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36920" cy="265104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Discord</a:t>
            </a:r>
            <a:br>
              <a:rPr sz="6000"/>
            </a:b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subTitle"/>
          </p:nvPr>
        </p:nvSpPr>
        <p:spPr>
          <a:xfrm>
            <a:off x="360000" y="1620000"/>
            <a:ext cx="8519040" cy="41061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75920" indent="-39672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s-CO" sz="20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Discord es nuestro espacio central de comunicación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75920" indent="-39672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s-CO" sz="20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Habrá diferentes canales: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2000" strike="noStrike" u="none">
                <a:solidFill>
                  <a:srgbClr val="1a1a1a"/>
                </a:solidFill>
                <a:effectLst/>
                <a:uFillTx/>
                <a:latin typeface="Courier New"/>
                <a:ea typeface="Inter"/>
              </a:rPr>
              <a:t>#da-info-cohort-##</a:t>
            </a:r>
            <a:r>
              <a:rPr b="0" lang="es-CO" sz="20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: anuncios y noticias.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2000" strike="noStrike" u="none">
                <a:solidFill>
                  <a:srgbClr val="1a1a1a"/>
                </a:solidFill>
                <a:effectLst/>
                <a:uFillTx/>
                <a:latin typeface="Courier New"/>
                <a:ea typeface="Inter"/>
              </a:rPr>
              <a:t>#da-community-cohort-##</a:t>
            </a:r>
            <a:r>
              <a:rPr b="0" lang="es-CO" sz="20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: discusión general.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2000" strike="noStrike" u="none">
                <a:solidFill>
                  <a:srgbClr val="1a1a1a"/>
                </a:solidFill>
                <a:effectLst/>
                <a:uFillTx/>
                <a:latin typeface="Courier New"/>
                <a:ea typeface="Inter"/>
              </a:rPr>
              <a:t>#da-project-cohort-##</a:t>
            </a:r>
            <a:r>
              <a:rPr b="0" lang="es-CO" sz="20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: preguntas sobre proeyctos </a:t>
            </a:r>
            <a:r>
              <a:rPr b="0" lang="es-CO" sz="20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	</a:t>
            </a:r>
            <a:r>
              <a:rPr b="0" lang="es-CO" sz="20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(etiquetando tutor y @Dataconsulta).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2000" strike="noStrike" u="none">
                <a:solidFill>
                  <a:srgbClr val="1a1a1a"/>
                </a:solidFill>
                <a:effectLst/>
                <a:uFillTx/>
                <a:latin typeface="Courier New"/>
                <a:ea typeface="Inter"/>
              </a:rPr>
              <a:t>#DATA-PLATFORM-CONTENT</a:t>
            </a:r>
            <a:r>
              <a:rPr b="0" lang="es-CO" sz="20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: preguntas sobre ejrcicios/contenido de la plataforma.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2000" strike="noStrike" u="none">
                <a:solidFill>
                  <a:srgbClr val="1a1a1a"/>
                </a:solidFill>
                <a:effectLst/>
                <a:uFillTx/>
                <a:latin typeface="Courier New"/>
                <a:ea typeface="Inter"/>
              </a:rPr>
              <a:t>#DATA-CO-LEARNING:</a:t>
            </a:r>
            <a:r>
              <a:rPr b="0" lang="es-CO" sz="20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 sesiones en vivo para QA.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75920" indent="-39672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75920" indent="-39672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8" name="Google Shape;49;p 2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5440" cy="19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9" name="PlaceHolder 2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9040" cy="10407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Discord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subTitle"/>
          </p:nvPr>
        </p:nvSpPr>
        <p:spPr>
          <a:xfrm>
            <a:off x="360000" y="1620000"/>
            <a:ext cx="8519040" cy="41061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>
              <a:lnSpc>
                <a:spcPct val="100000"/>
              </a:lnSpc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Normas de etiqueta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75920" indent="-39672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s-CO" sz="20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Sé claro al formular tu duda (contexto, error, captura si aplica).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75920" indent="-39672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s-CO" sz="20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Usa títulos o tags en tus mensajes ([Excel], [Python], [Dashboard]).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75920" indent="-39672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s-CO" sz="20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Respeta los tiempos: los tutores responden en horas de oficina.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75920" indent="-39672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s-CO" sz="20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Fomenta el apoyo entre pares: si sabes la respuesta, ¡apóyate con tus compañeros!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75920" indent="-39672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75920" indent="-39672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1" name="Google Shape;49;p 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5440" cy="19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2" name="PlaceHolder 2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9040" cy="10407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Discord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96840" y="2386440"/>
            <a:ext cx="8519040" cy="252684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f2f1ee"/>
                </a:solidFill>
                <a:effectLst/>
                <a:uFillTx/>
                <a:latin typeface="Inter ExtraBold"/>
                <a:ea typeface="Inter ExtraBold"/>
              </a:rPr>
              <a:t>¡Echemos ojo !</a:t>
            </a:r>
            <a:endParaRPr b="0" lang="es-MX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4" name="Google Shape;235;p 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7240" cy="190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240;p 5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5440" cy="19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36920" cy="265104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Webinars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07;p 2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6520" cy="194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96840" y="424800"/>
            <a:ext cx="8520120" cy="1402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🧑‍💻 Webinars</a:t>
            </a:r>
            <a:br>
              <a:rPr sz="4000"/>
            </a:b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Google Shape;110;p 3"/>
          <p:cNvSpPr/>
          <p:nvPr/>
        </p:nvSpPr>
        <p:spPr>
          <a:xfrm>
            <a:off x="4674600" y="1490760"/>
            <a:ext cx="4240440" cy="3423960"/>
          </a:xfrm>
          <a:prstGeom prst="roundRect">
            <a:avLst>
              <a:gd name="adj" fmla="val 5630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182880" bIns="274320" anchor="b">
            <a:noAutofit/>
          </a:bodyPr>
          <a:p>
            <a:pPr marL="216000" indent="-21600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Tenemos dos webinars semanales donde revisaremos contenido del sprints, resolveremos dudas, ejercicios extras. </a:t>
            </a: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Nuestras sesiones están programadas para </a:t>
            </a: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15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Lunes 6 PM CDMX</a:t>
            </a: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lvl="1" marL="432000" indent="-216000">
              <a:lnSpc>
                <a:spcPct val="115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Jueves 6 PM CDMX</a:t>
            </a: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9"/>
              </a:spcBef>
              <a:tabLst>
                <a:tab algn="l" pos="0"/>
              </a:tabLst>
            </a:pP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0" name="" descr=""/>
          <p:cNvPicPr/>
          <p:nvPr/>
        </p:nvPicPr>
        <p:blipFill>
          <a:blip r:embed="rId2"/>
          <a:stretch/>
        </p:blipFill>
        <p:spPr>
          <a:xfrm>
            <a:off x="179640" y="1800000"/>
            <a:ext cx="4320360" cy="288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07;p 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6520" cy="194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96840" y="424800"/>
            <a:ext cx="8520120" cy="1402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👩‍💻 Webinars</a:t>
            </a:r>
            <a:br>
              <a:rPr sz="4000"/>
            </a:b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Google Shape;110;p 4"/>
          <p:cNvSpPr/>
          <p:nvPr/>
        </p:nvSpPr>
        <p:spPr>
          <a:xfrm>
            <a:off x="4674600" y="1490760"/>
            <a:ext cx="4240440" cy="3423960"/>
          </a:xfrm>
          <a:prstGeom prst="roundRect">
            <a:avLst>
              <a:gd name="adj" fmla="val 5630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182880" bIns="274320" anchor="b">
            <a:noAutofit/>
          </a:bodyPr>
          <a:p>
            <a:pPr marL="216000" indent="-216000">
              <a:lnSpc>
                <a:spcPct val="115000"/>
              </a:lnSpc>
              <a:spcBef>
                <a:spcPts val="5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Recomendaciones</a:t>
            </a: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marL="216000" indent="-216000">
              <a:lnSpc>
                <a:spcPct val="115000"/>
              </a:lnSpc>
              <a:spcBef>
                <a:spcPts val="5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marL="216000" indent="-216000">
              <a:lnSpc>
                <a:spcPct val="115000"/>
              </a:lnSpc>
              <a:spcBef>
                <a:spcPts val="5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0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Usa la aplicación de escritorio o móvil para conectarte</a:t>
            </a: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marL="216000" indent="-216000">
              <a:lnSpc>
                <a:spcPct val="115000"/>
              </a:lnSpc>
              <a:spcBef>
                <a:spcPts val="5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0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En la medida de lo posible, ponte en un lugar que te permita estar atento y sin distracciones</a:t>
            </a: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marL="216000" indent="-216000">
              <a:lnSpc>
                <a:spcPct val="115000"/>
              </a:lnSpc>
              <a:spcBef>
                <a:spcPts val="5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0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Nombre identificable</a:t>
            </a: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marL="216000" indent="-216000">
              <a:lnSpc>
                <a:spcPct val="115000"/>
              </a:lnSpc>
              <a:spcBef>
                <a:spcPts val="5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0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Llevantar mano y reacciones para intervenir.</a:t>
            </a: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marL="216000" indent="-216000">
              <a:lnSpc>
                <a:spcPct val="115000"/>
              </a:lnSpc>
              <a:spcBef>
                <a:spcPts val="5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0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Siempre sé  respetouso a tus compañeros, nuestros comentarios que estén orientados a edificar</a:t>
            </a: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marL="216000" indent="-216000">
              <a:lnSpc>
                <a:spcPct val="115000"/>
              </a:lnSpc>
              <a:spcBef>
                <a:spcPts val="5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0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 Mantén una actitud colaborativa.</a:t>
            </a: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>
              <a:lnSpc>
                <a:spcPct val="115000"/>
              </a:lnSpc>
              <a:spcBef>
                <a:spcPts val="57"/>
              </a:spcBef>
              <a:tabLst>
                <a:tab algn="l" pos="0"/>
              </a:tabLst>
            </a:pP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algn="ctr">
              <a:lnSpc>
                <a:spcPct val="100000"/>
              </a:lnSpc>
              <a:spcBef>
                <a:spcPts val="1199"/>
              </a:spcBef>
              <a:tabLst>
                <a:tab algn="l" pos="0"/>
              </a:tabLst>
            </a:pP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4" name="" descr=""/>
          <p:cNvPicPr/>
          <p:nvPr/>
        </p:nvPicPr>
        <p:blipFill>
          <a:blip r:embed="rId2"/>
          <a:stretch/>
        </p:blipFill>
        <p:spPr>
          <a:xfrm>
            <a:off x="179640" y="1800000"/>
            <a:ext cx="4320360" cy="288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240;p 4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5440" cy="19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36920" cy="265104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1:1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07;p 4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6520" cy="194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96840" y="424800"/>
            <a:ext cx="8520120" cy="1402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👩‍💻 1:1</a:t>
            </a:r>
            <a:br>
              <a:rPr sz="4000"/>
            </a:b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Google Shape;110;p 5"/>
          <p:cNvSpPr/>
          <p:nvPr/>
        </p:nvSpPr>
        <p:spPr>
          <a:xfrm>
            <a:off x="4674600" y="1490760"/>
            <a:ext cx="4240440" cy="3423960"/>
          </a:xfrm>
          <a:prstGeom prst="roundRect">
            <a:avLst>
              <a:gd name="adj" fmla="val 5630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182880" bIns="274320" anchor="b">
            <a:noAutofit/>
          </a:bodyPr>
          <a:p>
            <a:pPr marL="216000" indent="-216000">
              <a:lnSpc>
                <a:spcPct val="115000"/>
              </a:lnSpc>
              <a:spcBef>
                <a:spcPts val="5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Puedes programar sesiones 1:1 conmigo ya sea para revisar tu dudas , inquietudes sobre el curso, el quehacer del analísta de dato. </a:t>
            </a: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marL="216000" indent="-216000">
              <a:lnSpc>
                <a:spcPct val="115000"/>
              </a:lnSpc>
              <a:spcBef>
                <a:spcPts val="5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Para asegurar disponibilidad para todos tienes acceso a una sesión 1:1 por sprint</a:t>
            </a: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marL="216000" indent="-216000">
              <a:lnSpc>
                <a:spcPct val="115000"/>
              </a:lnSpc>
              <a:spcBef>
                <a:spcPts val="5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algn="ctr">
              <a:lnSpc>
                <a:spcPct val="100000"/>
              </a:lnSpc>
              <a:spcBef>
                <a:spcPts val="1199"/>
              </a:spcBef>
              <a:tabLst>
                <a:tab algn="l" pos="0"/>
              </a:tabLst>
            </a:pP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0" name="" descr=""/>
          <p:cNvPicPr/>
          <p:nvPr/>
        </p:nvPicPr>
        <p:blipFill>
          <a:blip r:embed="rId2"/>
          <a:stretch/>
        </p:blipFill>
        <p:spPr>
          <a:xfrm>
            <a:off x="179640" y="1764000"/>
            <a:ext cx="4320360" cy="288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title"/>
          </p:nvPr>
        </p:nvSpPr>
        <p:spPr>
          <a:xfrm>
            <a:off x="96840" y="2386440"/>
            <a:ext cx="8519040" cy="252684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f2f1ee"/>
                </a:solidFill>
                <a:effectLst/>
                <a:uFillTx/>
                <a:latin typeface="Inter ExtraBold"/>
                <a:ea typeface="Inter ExtraBold"/>
              </a:rPr>
              <a:t>¡Veamos como programar una !</a:t>
            </a:r>
            <a:endParaRPr b="0" lang="es-MX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2" name="Google Shape;235;p 2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7240" cy="190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240;p 6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5440" cy="19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7057080" cy="265104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Recomendaciones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07;p 5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6520" cy="194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96840" y="424800"/>
            <a:ext cx="8520120" cy="1402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👩‍💻 Recomendaciones</a:t>
            </a:r>
            <a:br>
              <a:rPr sz="4000"/>
            </a:b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Google Shape;110;p 6"/>
          <p:cNvSpPr/>
          <p:nvPr/>
        </p:nvSpPr>
        <p:spPr>
          <a:xfrm>
            <a:off x="4674600" y="1490760"/>
            <a:ext cx="4240440" cy="3423960"/>
          </a:xfrm>
          <a:prstGeom prst="roundRect">
            <a:avLst>
              <a:gd name="adj" fmla="val 5630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182880" bIns="274320" anchor="b">
            <a:noAutofit/>
          </a:bodyPr>
          <a:p>
            <a:pPr marL="216000" indent="-216000">
              <a:lnSpc>
                <a:spcPct val="115000"/>
              </a:lnSpc>
              <a:spcBef>
                <a:spcPts val="5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En la medida de lo posible fija un espacio para estudiar</a:t>
            </a: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marL="216000" indent="-216000">
              <a:lnSpc>
                <a:spcPct val="115000"/>
              </a:lnSpc>
              <a:spcBef>
                <a:spcPts val="5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Toma notas significativas</a:t>
            </a: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marL="216000" indent="-216000">
              <a:lnSpc>
                <a:spcPct val="115000"/>
              </a:lnSpc>
              <a:spcBef>
                <a:spcPts val="5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Práctica inmediatamente tras la teoria</a:t>
            </a: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marL="216000" indent="-216000">
              <a:lnSpc>
                <a:spcPct val="115000"/>
              </a:lnSpc>
              <a:spcBef>
                <a:spcPts val="5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No esperes a estar bloqueado días. Si surge una duda → escríbela en Discord.</a:t>
            </a: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lvl="1" marL="432000" indent="-216000">
              <a:lnSpc>
                <a:spcPct val="115000"/>
              </a:lnSpc>
              <a:spcBef>
                <a:spcPts val="5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 Si llevas &gt;20 minutos atascado, pregunta.</a:t>
            </a: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marL="216000" indent="-216000">
              <a:lnSpc>
                <a:spcPct val="115000"/>
              </a:lnSpc>
              <a:spcBef>
                <a:spcPts val="5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algn="ctr">
              <a:lnSpc>
                <a:spcPct val="100000"/>
              </a:lnSpc>
              <a:spcBef>
                <a:spcPts val="1199"/>
              </a:spcBef>
              <a:tabLst>
                <a:tab algn="l" pos="0"/>
              </a:tabLst>
            </a:pP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8" name="" descr=""/>
          <p:cNvPicPr/>
          <p:nvPr/>
        </p:nvPicPr>
        <p:blipFill>
          <a:blip r:embed="rId2"/>
          <a:stretch/>
        </p:blipFill>
        <p:spPr>
          <a:xfrm>
            <a:off x="504720" y="2106720"/>
            <a:ext cx="3936960" cy="2213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title"/>
          </p:nvPr>
        </p:nvSpPr>
        <p:spPr>
          <a:xfrm>
            <a:off x="311760" y="1914120"/>
            <a:ext cx="8519040" cy="10407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Thanks      for coming!</a:t>
            </a:r>
            <a:endParaRPr b="0" lang="es-MX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0" name="Google Shape;270;p39" descr=""/>
          <p:cNvPicPr/>
          <p:nvPr/>
        </p:nvPicPr>
        <p:blipFill>
          <a:blip r:embed="rId1"/>
          <a:stretch/>
        </p:blipFill>
        <p:spPr>
          <a:xfrm>
            <a:off x="3642120" y="2053080"/>
            <a:ext cx="644040" cy="643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1" name="Google Shape;271;p39" descr=""/>
          <p:cNvPicPr/>
          <p:nvPr/>
        </p:nvPicPr>
        <p:blipFill>
          <a:blip r:embed="rId2"/>
          <a:stretch/>
        </p:blipFill>
        <p:spPr>
          <a:xfrm>
            <a:off x="4138560" y="228600"/>
            <a:ext cx="865440" cy="192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1627</TotalTime>
  <Application>LibreOffice/25.8.0.4$Windows_X86_64 LibreOffice_project/48f00303701489684e67c38c28aff00cd5929e67</Application>
  <AppVersion>15.0000</AppVersion>
  <Words>1959</Words>
  <Paragraphs>195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es-MX</dc:language>
  <cp:lastModifiedBy/>
  <dcterms:modified xsi:type="dcterms:W3CDTF">2025-09-29T08:09:35Z</dcterms:modified>
  <cp:revision>22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35</vt:i4>
  </property>
  <property fmtid="{D5CDD505-2E9C-101B-9397-08002B2CF9AE}" pid="3" name="Notes">
    <vt:i4>51</vt:i4>
  </property>
  <property fmtid="{D5CDD505-2E9C-101B-9397-08002B2CF9AE}" pid="4" name="PresentationFormat">
    <vt:lpwstr>Presentación en pantalla (16:9)</vt:lpwstr>
  </property>
  <property fmtid="{D5CDD505-2E9C-101B-9397-08002B2CF9AE}" pid="5" name="Slides">
    <vt:i4>51</vt:i4>
  </property>
</Properties>
</file>