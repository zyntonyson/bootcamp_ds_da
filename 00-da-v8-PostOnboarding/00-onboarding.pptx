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8.png" ContentType="image/png"/>
  <Override PartName="/ppt/media/image1.png" ContentType="image/png"/>
  <Override PartName="/ppt/media/image11.png" ContentType="image/png"/>
  <Override PartName="/ppt/media/image8.png" ContentType="image/png"/>
  <Override PartName="/ppt/media/image3.png" ContentType="image/png"/>
  <Override PartName="/ppt/media/image2.jpeg" ContentType="image/jpe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10.png" ContentType="image/png"/>
  <Override PartName="/ppt/media/image9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9.png" ContentType="image/png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_rels/slide22.xml.rels" ContentType="application/vnd.openxmlformats-package.relationships+xml"/>
  <Override PartName="/ppt/slides/_rels/slide35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D5CBDC-0155-4B84-9081-BC1D564E277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22F3B9-7594-4F5D-8B57-09B6DFC45A7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8F9D05-809D-4FA9-97AC-BE9E35CBD37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56DB50-C347-4516-B5D6-6DA6EF577A3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6B2C8D-94F6-4C79-ADDF-750F2949680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4C6C1C-F04E-4262-A89A-51D77F3BDDF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CD865E-C0CC-4763-9ABA-28263A42200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DD40E6-8530-4BE6-A700-BD5A93CC3FB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26CFDF-4FA0-45D1-A505-5638E54200E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CF69CD-9B2E-47A2-B0B1-50521D85C46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0C4182-4240-4661-A86F-3BEE17992C0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A89C8E-2005-44D6-85F5-4E2B5F0E9F2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35808E-CD8E-4358-8A01-458ADF69519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520" cy="85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52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3A940E-E07F-4FBA-A13E-43CA6267BED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AF93B2-D4C3-492A-BE57-C811A89CFC4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A99209-4EDB-43F7-9502-23D7DF8AC24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6B4B91-D965-4FE5-8C85-C4095815C96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5FC25E-430A-4E18-9C23-E2D3D21DD15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0DA0B0-2350-4464-AAD2-C6B34CDBCD5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A8251D-56EB-48CB-860C-B0CACF0577A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1BFF3E-A464-4A2E-95FB-B8017C6E0FC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16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552D32-1081-46C2-8823-D4A2D2D99F6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7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EFFA5A-1726-4FC5-A7C1-0C6B1EF779B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520" cy="142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6480" cy="39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0B8967-BCE0-41DD-B17A-04DD209551F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E5311CF2-DE88-4EEF-B372-E1A490403902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22DB4C-FEC3-4A20-A224-59EE75D6935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2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2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2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2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2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2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2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25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25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8320" cy="216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Sesión 0:</a:t>
            </a:r>
            <a:br>
              <a:rPr sz="6000"/>
            </a:b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Post-Onboarding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y Bienvenida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"/>
          <p:cNvSpPr/>
          <p:nvPr/>
        </p:nvSpPr>
        <p:spPr>
          <a:xfrm>
            <a:off x="144360" y="4612680"/>
            <a:ext cx="19825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fld id="{B45546DE-FBDE-4B9B-81D1-29442FE2F26C}" type="datetime5">
              <a:rPr b="0" i="1" lang="es-MX" sz="1500" strike="noStrike" u="none">
                <a:solidFill>
                  <a:srgbClr val="000000"/>
                </a:solidFill>
                <a:effectLst/>
                <a:uFillTx/>
                <a:latin typeface="Verdana"/>
                <a:ea typeface="DejaVu Sans"/>
              </a:rPr>
              <a:t>1 de oct de 2025</a:t>
            </a:fld>
            <a:endParaRPr b="0" lang="es-MX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3473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¡Bienvenidos!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6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Sobre mi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title"/>
          </p:nvPr>
        </p:nvSpPr>
        <p:spPr>
          <a:xfrm>
            <a:off x="180000" y="3922560"/>
            <a:ext cx="5390640" cy="1190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Román Castillo Casanova</a:t>
            </a:r>
            <a:br>
              <a:rPr sz="3200"/>
            </a:b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Tutor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" descr=""/>
          <p:cNvPicPr/>
          <p:nvPr/>
        </p:nvPicPr>
        <p:blipFill>
          <a:blip r:embed="rId2"/>
          <a:stretch/>
        </p:blipFill>
        <p:spPr>
          <a:xfrm>
            <a:off x="5243760" y="720000"/>
            <a:ext cx="3372480" cy="3372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240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3473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Y ahora, ¿tú eres? 🫡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ubTitle"/>
          </p:nvPr>
        </p:nvSpPr>
        <p:spPr>
          <a:xfrm>
            <a:off x="152280" y="1465560"/>
            <a:ext cx="8518320" cy="3539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👋 Bienvenida y presentación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15-25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📊 ¿Qué hace una analista de datos?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20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📚 Nuestro curso: cómo aprovecharlo al máximo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45–60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⚙️ Cómo funciona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✅ Qué tengo que hacer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🙋 Cómo pedir ayuda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Cierre y siguientes pasos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5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213;p33"/>
          <p:cNvSpPr/>
          <p:nvPr/>
        </p:nvSpPr>
        <p:spPr>
          <a:xfrm>
            <a:off x="22860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Presentar la metodología del curso y la dinámica de trabajo.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214;p33"/>
          <p:cNvSpPr/>
          <p:nvPr/>
        </p:nvSpPr>
        <p:spPr>
          <a:xfrm>
            <a:off x="320940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Hacer un recorrido general por los contenidos del curso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215;p33"/>
          <p:cNvSpPr/>
          <p:nvPr/>
        </p:nvSpPr>
        <p:spPr>
          <a:xfrm>
            <a:off x="6190560" y="1952280"/>
            <a:ext cx="2722680" cy="29602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Alinear expectativas sobre qué se espera de cada estudiante.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80000" y="57924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2320" cy="758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3473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hace una analista de datos?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07;p2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4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📊 El boom de los datos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09;p 2"/>
          <p:cNvSpPr/>
          <p:nvPr/>
        </p:nvSpPr>
        <p:spPr>
          <a:xfrm>
            <a:off x="228600" y="1490760"/>
            <a:ext cx="4239720" cy="3423240"/>
          </a:xfrm>
          <a:prstGeom prst="roundRect">
            <a:avLst>
              <a:gd name="adj" fmla="val 4989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10;p 2"/>
          <p:cNvSpPr/>
          <p:nvPr/>
        </p:nvSpPr>
        <p:spPr>
          <a:xfrm>
            <a:off x="4674600" y="1490760"/>
            <a:ext cx="423972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Vivimos en la era de los datos: cada interacción digital genera información valiosa. 🌍 Hoy, las empresas necesitan aprovechar esos datos para decidir mejor, innovar y crecer. Por eso, la demanda de profesionales en Data Analytics y Data Science 🚀 es una de las más altas del mercado.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07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28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36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👩‍💻Roles en el mundo de los datos🧑‍💻</a:t>
            </a:r>
            <a:br>
              <a:rPr sz="3600"/>
            </a:br>
            <a:endParaRPr b="0" lang="es-MX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" descr=""/>
          <p:cNvPicPr/>
          <p:nvPr/>
        </p:nvPicPr>
        <p:blipFill>
          <a:blip r:embed="rId2"/>
          <a:srcRect l="0" t="24278" r="0" b="2229"/>
          <a:stretch/>
        </p:blipFill>
        <p:spPr>
          <a:xfrm>
            <a:off x="745200" y="1080360"/>
            <a:ext cx="7714080" cy="377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49;p2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hace un analista de datos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51;p 2"/>
          <p:cNvSpPr/>
          <p:nvPr/>
        </p:nvSpPr>
        <p:spPr>
          <a:xfrm>
            <a:off x="228600" y="1490760"/>
            <a:ext cx="208368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" sz="16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Recolecta y limpia información 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Antes de analizar, los datos deben estar listos. Por ejemplo: quitar registros duplicados o corregir fechas mal escritas en una base de clientes.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52;p 2"/>
          <p:cNvSpPr/>
          <p:nvPr/>
        </p:nvSpPr>
        <p:spPr>
          <a:xfrm>
            <a:off x="2446200" y="1490760"/>
            <a:ext cx="208368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" sz="16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Define métricas y KPIs 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Decide qué medir para saber si vamos bien o mal. Ejemplo: en una tienda online, definir tasa de conversión = (ventas / visitas).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153;p 2"/>
          <p:cNvSpPr/>
          <p:nvPr/>
        </p:nvSpPr>
        <p:spPr>
          <a:xfrm>
            <a:off x="4638240" y="1490760"/>
            <a:ext cx="208368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" sz="16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Comunica hallazgos con storytelling ✨ 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 solo muestra números, sino que cuenta una historia. Ejemplo: explicar cómo las ventas subieron después de una campaña en redes.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154;p 2"/>
          <p:cNvSpPr/>
          <p:nvPr/>
        </p:nvSpPr>
        <p:spPr>
          <a:xfrm>
            <a:off x="6830640" y="1490760"/>
            <a:ext cx="208368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n" sz="16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Convierte datos → decisiones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El objetivo final: que el negocio actúe con base en evidencia. Ejemplo: recomendar invertir más en el canal que trae más clientes recurrentes.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240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3473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funciona el bootcamp?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89;p30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Contenido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1404000" y="1185120"/>
            <a:ext cx="8639280" cy="39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1: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Asegura la calidad de los datos y genera reportes básicos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2: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Transforma datos para insights de negocio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3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Explora KPIs con SQL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4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Analiza journeys de usuarios con SQL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5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Prepara y estructura datos con Python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6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Análisis estadístico para detectar patrones y outliers (Proyecto 1)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7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Curso de preparación de carrera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8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Explora las conexiones de datos con correlaciones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9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Valida hipótesis de negocio con pruebas estadísticas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10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Construye historias visuales claras con gráficos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11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Crea dashboards interactivos para stakeholders (Proyecto 2)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Sprint 12</a:t>
            </a: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Proyecto final 🚀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240;p 9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2650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¿Qué necesito saber y usar?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herramientas necesito?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51;p 3"/>
          <p:cNvSpPr/>
          <p:nvPr/>
        </p:nvSpPr>
        <p:spPr>
          <a:xfrm>
            <a:off x="180000" y="1490760"/>
            <a:ext cx="208368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Aqui no estaremos conectando en las diferentes sesiones. Te recomiendo instalar la aplicación de escritorio o  la movil en vez de usar la versión del navegador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52;p 3"/>
          <p:cNvSpPr/>
          <p:nvPr/>
        </p:nvSpPr>
        <p:spPr>
          <a:xfrm>
            <a:off x="2446200" y="1490760"/>
            <a:ext cx="208368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Principal canal de comunicación de texto/audio. Aqui podrás dejar tus preguntas, compartir inquietudes y convivir con el equipo de tripleten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153;p 3"/>
          <p:cNvSpPr/>
          <p:nvPr/>
        </p:nvSpPr>
        <p:spPr>
          <a:xfrm>
            <a:off x="4638240" y="1490760"/>
            <a:ext cx="208368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 es obligatorio pero estaremos trabajando con muchos recursos de la nube de google. Es una herramienta muy útil para gestionar todo el material que irás generando en el curso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154;p 3"/>
          <p:cNvSpPr/>
          <p:nvPr/>
        </p:nvSpPr>
        <p:spPr>
          <a:xfrm>
            <a:off x="6830640" y="1490760"/>
            <a:ext cx="208368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12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Ambiente interactivo para ejecutar python, usa recursos computacionales de google de forma gratuita.</a:t>
            </a:r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" descr=""/>
          <p:cNvPicPr/>
          <p:nvPr/>
        </p:nvPicPr>
        <p:blipFill>
          <a:blip r:embed="rId2"/>
          <a:stretch/>
        </p:blipFill>
        <p:spPr>
          <a:xfrm>
            <a:off x="407520" y="1620000"/>
            <a:ext cx="1571760" cy="480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" descr=""/>
          <p:cNvPicPr/>
          <p:nvPr/>
        </p:nvPicPr>
        <p:blipFill>
          <a:blip r:embed="rId3"/>
          <a:stretch/>
        </p:blipFill>
        <p:spPr>
          <a:xfrm>
            <a:off x="4860000" y="1620000"/>
            <a:ext cx="1460160" cy="392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3" name="" descr=""/>
          <p:cNvPicPr/>
          <p:nvPr/>
        </p:nvPicPr>
        <p:blipFill>
          <a:blip r:embed="rId4"/>
          <a:stretch/>
        </p:blipFill>
        <p:spPr>
          <a:xfrm>
            <a:off x="2618640" y="1383120"/>
            <a:ext cx="1700640" cy="95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" descr=""/>
          <p:cNvPicPr/>
          <p:nvPr/>
        </p:nvPicPr>
        <p:blipFill>
          <a:blip r:embed="rId5"/>
          <a:stretch/>
        </p:blipFill>
        <p:spPr>
          <a:xfrm>
            <a:off x="7427160" y="1595160"/>
            <a:ext cx="672120" cy="384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240;p 8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2650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¿De qué ayudas dispongo?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07;p 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4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Ayudas en tu curso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540000" y="1800000"/>
            <a:ext cx="791964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Plataforma Tripleten con ejercicios que te guian paso a paso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Asistente de IA DOT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Webinars semales guiados por el tutor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Discord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Hilos de preguntas y respuestas de la comunidad Tripleten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Canal de audio para aprendizaje colaborativo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Sesiones 1:1 con tu tutor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320" cy="2526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¡Echemos ojo 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1" name="Google Shape;235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240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2650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son los proyectos?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8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Proyectos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180720" y="1362600"/>
            <a:ext cx="86392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Cada sprint se compone de un componente teórico y practico En el componente práctico deberás enfrentarte a un proyecto. Cuando subes tu proyecto, éste será asignado a un revisor. El revisor evaluará tu trabajo según criterios definidos y te brindará comentarios que te ayudarán a mejorar.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Google Shape;522;p56" descr=""/>
          <p:cNvPicPr/>
          <p:nvPr/>
        </p:nvPicPr>
        <p:blipFill>
          <a:blip r:embed="rId2"/>
          <a:stretch/>
        </p:blipFill>
        <p:spPr>
          <a:xfrm>
            <a:off x="4867560" y="3420000"/>
            <a:ext cx="4132440" cy="162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"/>
          <p:cNvSpPr txBox="1"/>
          <p:nvPr/>
        </p:nvSpPr>
        <p:spPr>
          <a:xfrm>
            <a:off x="360000" y="2880000"/>
            <a:ext cx="3600000" cy="19054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s-MX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 terminar de revisar, el revisor toma una decisión global sobre tu proyecto: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s-MX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✅ Aprobado: tu proyecto tiene el nivel suficiente para avanzar. Puede que tengas recomendaciones amarillas, pero no hay errores críticos.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s-MX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❌ Rechazado: hay al menos un punto rojo. Deberás corregir solo los puntos rojos antes de reenviar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8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Revisión del proyecto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180720" y="1362600"/>
            <a:ext cx="8639280" cy="41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El revisor te estará dejando diferentes tipos de comentarios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🔴 Rojo (Error): Indica un error o punto crítico que sí o sí debe corregirse: 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🟡 Amarillo (Recomendación): Son sugerencias o mejoras para que tu proyecto sea más sólido, pero no bloquean tu aprobación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 descr=""/>
          <p:cNvPicPr/>
          <p:nvPr/>
        </p:nvPicPr>
        <p:blipFill>
          <a:blip r:embed="rId2"/>
          <a:stretch/>
        </p:blipFill>
        <p:spPr>
          <a:xfrm>
            <a:off x="1440000" y="2160000"/>
            <a:ext cx="5621760" cy="103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 descr=""/>
          <p:cNvPicPr/>
          <p:nvPr/>
        </p:nvPicPr>
        <p:blipFill>
          <a:blip r:embed="rId3"/>
          <a:stretch/>
        </p:blipFill>
        <p:spPr>
          <a:xfrm>
            <a:off x="900000" y="3506760"/>
            <a:ext cx="6039000" cy="153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8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Revisión del proyecto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180720" y="1362600"/>
            <a:ext cx="8639280" cy="20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El revisor te estará dejando diferentes tipos de comentarios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🟢 Verde (Éxito): Marca los puntos bien logrados. Es una forma de reconocer lo que hiciste correctamente. 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2"/>
          <a:stretch/>
        </p:blipFill>
        <p:spPr>
          <a:xfrm>
            <a:off x="914040" y="2232720"/>
            <a:ext cx="6105960" cy="64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8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8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Iteraciones y acompañamiento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180720" y="1362600"/>
            <a:ext cx="8639280" cy="509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 tu proyecto fue rechazado, volverá a ti para que corrijas los puntos rojos y lo reenvíes.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Puedes tener tantas iteraciones como sean necesarias. El objetivo es asegurarnos de que realmente aprendas. 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 el revisor considera que tus dificultades requieren un apoyo más cercano, podrá solicitar una sesión 1:1 con tutores. Allí tendrás la oportunidad de trabajar en detalle sobre los errores y aclarar dudas específicas. 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s-MX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Es importante aprovechar estas instancias: son oportunidades valiosas para reforzar tu conocimiento y crecer como estudiante. </a:t>
            </a:r>
            <a:endParaRPr b="0" lang="es-MX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2650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br>
              <a:rPr sz="6000"/>
            </a:b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ubTitle"/>
          </p:nvPr>
        </p:nvSpPr>
        <p:spPr>
          <a:xfrm>
            <a:off x="360000" y="1620000"/>
            <a:ext cx="8518320" cy="41054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Discord es nuestro espacio central de comunicación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Habrá diferentes canales: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#da-info-cohort-##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anuncios y noticias.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#da-community-cohort-##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discusión general.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DA_CONSULTA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18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#preguntas-de-teoria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preguntas sobre ejrcicios/contenido de la plataforma.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18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#preguntas-de-proyecto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: preguntas sobre proyectos (etiquetando tutor y @Dataconsulta).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Courier New"/>
                <a:ea typeface="Inter"/>
              </a:rPr>
              <a:t>#DATA-CO-LEARNING:</a:t>
            </a: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sesiones en vivo para QA.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ubTitle"/>
          </p:nvPr>
        </p:nvSpPr>
        <p:spPr>
          <a:xfrm>
            <a:off x="360000" y="1620000"/>
            <a:ext cx="8518320" cy="41054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Normas de etiqueta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Sé claro al formular tu duda (contexto, error, captura si aplica).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Usa títulos o tags en tus mensajes ([Excel], [Python], [Dashboard]).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Respeta los tiempos: los tutores responden en horas de oficina.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Fomenta el apoyo entre pares: si sabes la respuesta, ¡apóyate con tus compañeros!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7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Discord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320" cy="2526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¡Echemos ojo 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0" name="Google Shape;235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240;p 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2650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07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4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🧑‍💻 Webinars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110;p 3"/>
          <p:cNvSpPr/>
          <p:nvPr/>
        </p:nvSpPr>
        <p:spPr>
          <a:xfrm>
            <a:off x="4674600" y="1260000"/>
            <a:ext cx="4145040" cy="365400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Tenemos dos webinars semanales donde revisaremos contenido del sprints, resolveremos dudas, ejercicios extras.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Nuestras sesiones están programadas para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Lunes 6 PM CDMX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Jueves 6 PM CDMX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6" name="" descr=""/>
          <p:cNvPicPr/>
          <p:nvPr/>
        </p:nvPicPr>
        <p:blipFill>
          <a:blip r:embed="rId2"/>
          <a:stretch/>
        </p:blipFill>
        <p:spPr>
          <a:xfrm>
            <a:off x="180000" y="1620360"/>
            <a:ext cx="4319640" cy="28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07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4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Webinars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110;p 4"/>
          <p:cNvSpPr/>
          <p:nvPr/>
        </p:nvSpPr>
        <p:spPr>
          <a:xfrm>
            <a:off x="4674600" y="1490760"/>
            <a:ext cx="423972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Recomendaciones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Usa la aplicación de escritorio o móvil para conectarte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En la medida de lo posible, ponte en un lugar que te permita estar atento y sin distracciones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Nombre identificable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Llevantar mano y reacciones para intervenir.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Siempre sé  respetouso a tus compañeros, nuestros comentarios que estén orientados a edificar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Mantén una actitud colaborativa.</a:t>
            </a: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" descr=""/>
          <p:cNvPicPr/>
          <p:nvPr/>
        </p:nvPicPr>
        <p:blipFill>
          <a:blip r:embed="rId2"/>
          <a:stretch/>
        </p:blipFill>
        <p:spPr>
          <a:xfrm>
            <a:off x="179640" y="1800000"/>
            <a:ext cx="4319640" cy="28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40;p 7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6200" cy="2650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1:1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107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4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1:1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110;p 5"/>
          <p:cNvSpPr/>
          <p:nvPr/>
        </p:nvSpPr>
        <p:spPr>
          <a:xfrm>
            <a:off x="4674600" y="1490760"/>
            <a:ext cx="423972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Puedes programar sesiones 1:1 conmigo ya sea para revisar tu dudas , inquietudes sobre el curso, el quehacer del analísta de dato. 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Para asegurar disponibilidad para todos tienes acceso a una sesión 1:1 por sprint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" descr=""/>
          <p:cNvPicPr/>
          <p:nvPr/>
        </p:nvPicPr>
        <p:blipFill>
          <a:blip r:embed="rId2"/>
          <a:stretch/>
        </p:blipFill>
        <p:spPr>
          <a:xfrm>
            <a:off x="179640" y="1764000"/>
            <a:ext cx="4319640" cy="28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8320" cy="2526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¡Veamos como programar una 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" name="Google Shape;235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52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40;p 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7056360" cy="2650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Recomendaciones</a:t>
            </a:r>
            <a:endParaRPr b="0" lang="es-MX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107;p 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4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👩‍💻 Recomendaciones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110;p 6"/>
          <p:cNvSpPr/>
          <p:nvPr/>
        </p:nvSpPr>
        <p:spPr>
          <a:xfrm>
            <a:off x="4674600" y="1490760"/>
            <a:ext cx="4239720" cy="3423240"/>
          </a:xfrm>
          <a:prstGeom prst="roundRect">
            <a:avLst>
              <a:gd name="adj" fmla="val 563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182880" bIns="274320" anchor="b">
            <a:noAutofit/>
          </a:bodyPr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En la medida de lo posible fija un espacio para estudiar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Toma notas significativas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Práctica inmediatamente tras la teoria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No esperes a estar bloqueado días. Si surge una duda → escríbela en Discord.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15000"/>
              </a:lnSpc>
              <a:spcBef>
                <a:spcPts val="5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Si llevas &gt;20 minutos atascado, pregunta.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spcBef>
                <a:spcPts val="57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4" name="" descr=""/>
          <p:cNvPicPr/>
          <p:nvPr/>
        </p:nvPicPr>
        <p:blipFill>
          <a:blip r:embed="rId2"/>
          <a:stretch/>
        </p:blipFill>
        <p:spPr>
          <a:xfrm>
            <a:off x="504720" y="2106720"/>
            <a:ext cx="3936240" cy="2212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8320" cy="10400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6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3320" cy="642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7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720" cy="19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1659</TotalTime>
  <Application>LibreOffice/25.8.0.4$Windows_X86_64 LibreOffice_project/48f00303701489684e67c38c28aff00cd5929e67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2025-10-01T17:53:08Z</dcterms:modified>
  <cp:revision>24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