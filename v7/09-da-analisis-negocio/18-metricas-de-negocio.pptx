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6DCE532-F60E-4E07-B560-E23C1D181EF1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5D69A20-AEF7-403C-8210-216EF5CC40B6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0B87F4C-6B77-4906-9395-B48DA0740F83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C43D4F4-6CE2-498A-A61D-771B2DD35D6E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11BC9F6-621D-4E7C-B6AA-EF29905145A6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A52E7A5-D6C2-4447-BE29-90879289EEBE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AC0FEE3-7995-4E95-A855-4D0018C4858E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61F193E-3853-4962-AD15-4CBC1FD5E443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BA56C25-6605-4E44-94D7-B013E57CC4C3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2A898FE-D882-400D-A6E3-1B4D120B2B62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8EB3BF0-2FD2-4D2A-97D0-EC75F4EAEEBF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9C4D55A-05B8-43F8-B7DD-BB17690602D2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9598620-422F-4E35-B3BC-F946FCFBA4F6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DE6992-5A54-4DD3-A595-122E1279D7E1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D54CD3F-9E0D-4FB2-B3D3-6CD7A0CE3A1E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27BFB87-D396-4921-9011-717EB411F38F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F642E3B-90C1-4B15-A64A-28AE33154DE8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9E6ED31-DF11-4991-B19D-9E453AA74DC4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FA0C13C-AB86-4300-A131-DF9DD4FF1FAC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DB8A938-3874-42CE-8BF3-0CA3E86FB29B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33FC26E-E60E-4F0D-8849-1567EE3D0008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F7A3CE3-DC97-4807-BE66-5A621B60E719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CFCFA41-F931-4072-A652-4D6D5CB4C45A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F219FFD-EA77-4B8D-892F-51A362EF7D1A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4A6334-F644-456A-AED7-4054D2D593C3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5</a:t>
            </a:fld>
            <a:endParaRPr b="0" lang="es-MX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 marL="414720" indent="-311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  <a:p>
            <a:pPr lvl="1" marL="829440" indent="-31104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MX" sz="2800" spc="-1" strike="noStrike">
              <a:solidFill>
                <a:srgbClr val="000000"/>
              </a:solidFill>
              <a:latin typeface="Arial"/>
            </a:endParaRPr>
          </a:p>
          <a:p>
            <a:pPr lvl="2" marL="1244160" indent="-27648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MX" sz="2400" spc="-1" strike="noStrike">
              <a:solidFill>
                <a:srgbClr val="000000"/>
              </a:solidFill>
              <a:latin typeface="Arial"/>
            </a:endParaRPr>
          </a:p>
          <a:p>
            <a:pPr lvl="3" marL="1658880" indent="-20736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MX" sz="2000" spc="-1" strike="noStrike">
              <a:solidFill>
                <a:srgbClr val="000000"/>
              </a:solidFill>
              <a:latin typeface="Arial"/>
            </a:endParaRPr>
          </a:p>
          <a:p>
            <a:pPr lvl="4" marL="2073600" indent="-2073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MX" sz="2000" spc="-1" strike="noStrike">
              <a:solidFill>
                <a:srgbClr val="000000"/>
              </a:solidFill>
              <a:latin typeface="Arial"/>
            </a:endParaRPr>
          </a:p>
          <a:p>
            <a:pPr lvl="5" marL="2488320" indent="-2073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MX" sz="2000" spc="-1" strike="noStrike">
              <a:solidFill>
                <a:srgbClr val="000000"/>
              </a:solidFill>
              <a:latin typeface="Arial"/>
            </a:endParaRPr>
          </a:p>
          <a:p>
            <a:pPr lvl="6" marL="2903040" indent="-2073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MX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D8749F-B8DD-4573-A831-B25ED33D6D53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&lt;número&gt;</a:t>
            </a:fld>
            <a:endParaRPr b="0" lang="es-MX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 marL="414720" indent="-311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  <a:p>
            <a:pPr lvl="1" marL="829440" indent="-31104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MX" sz="2800" spc="-1" strike="noStrike">
              <a:solidFill>
                <a:srgbClr val="000000"/>
              </a:solidFill>
              <a:latin typeface="Arial"/>
            </a:endParaRPr>
          </a:p>
          <a:p>
            <a:pPr lvl="2" marL="1244160" indent="-27648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MX" sz="2400" spc="-1" strike="noStrike">
              <a:solidFill>
                <a:srgbClr val="000000"/>
              </a:solidFill>
              <a:latin typeface="Arial"/>
            </a:endParaRPr>
          </a:p>
          <a:p>
            <a:pPr lvl="3" marL="1658880" indent="-20736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MX" sz="2000" spc="-1" strike="noStrike">
              <a:solidFill>
                <a:srgbClr val="000000"/>
              </a:solidFill>
              <a:latin typeface="Arial"/>
            </a:endParaRPr>
          </a:p>
          <a:p>
            <a:pPr lvl="4" marL="2073600" indent="-2073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MX" sz="2000" spc="-1" strike="noStrike">
              <a:solidFill>
                <a:srgbClr val="000000"/>
              </a:solidFill>
              <a:latin typeface="Arial"/>
            </a:endParaRPr>
          </a:p>
          <a:p>
            <a:pPr lvl="5" marL="2488320" indent="-2073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MX" sz="2000" spc="-1" strike="noStrike">
              <a:solidFill>
                <a:srgbClr val="000000"/>
              </a:solidFill>
              <a:latin typeface="Arial"/>
            </a:endParaRPr>
          </a:p>
          <a:p>
            <a:pPr lvl="6" marL="2903040" indent="-2073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MX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9760" cy="216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pc="-1" strike="noStrike">
                <a:solidFill>
                  <a:srgbClr val="1a1a1a"/>
                </a:solidFill>
                <a:latin typeface="Inter ExtraBold"/>
                <a:ea typeface="Inter ExtraBold"/>
              </a:rPr>
              <a:t>Webinar 18 - Sprint 9</a:t>
            </a:r>
            <a:endParaRPr b="0" lang="es-MX" sz="6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CO" sz="2000" spc="-1" strike="noStrike">
                <a:solidFill>
                  <a:srgbClr val="1a1a1a"/>
                </a:solidFill>
                <a:latin typeface="Inter"/>
                <a:ea typeface="Inter"/>
              </a:rPr>
              <a:t>Análisis de negocio</a:t>
            </a:r>
            <a:endParaRPr b="0" lang="es-MX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ln w="0">
            <a:noFill/>
          </a:ln>
        </p:spPr>
      </p:pic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6080" cy="31658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CDCE19A0-2CCF-4011-A7AE-A778418C360A}" type="datetime5">
              <a:rPr b="0" lang="en" sz="1200" spc="-1" strike="noStrike">
                <a:solidFill>
                  <a:srgbClr val="2a2a2a"/>
                </a:solidFill>
                <a:latin typeface="Inter Medium"/>
                <a:ea typeface="Inter Medium"/>
              </a:rPr>
              <a:t>Aug 20, 2025</a:t>
            </a:fld>
            <a:endParaRPr b="0" lang="es-MX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ubTitle"/>
          </p:nvPr>
        </p:nvSpPr>
        <p:spPr>
          <a:xfrm>
            <a:off x="277920" y="1322280"/>
            <a:ext cx="8519760" cy="3537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1800" spc="-1" strike="noStrike">
                <a:solidFill>
                  <a:srgbClr val="1a1a1a"/>
                </a:solidFill>
                <a:latin typeface="Verdana"/>
                <a:ea typeface="Inter"/>
              </a:rPr>
              <a:t>⭐ </a:t>
            </a:r>
            <a:r>
              <a:rPr b="0" lang="es-CO" sz="1800" spc="-1" strike="noStrike">
                <a:solidFill>
                  <a:srgbClr val="1a1a1a"/>
                </a:solidFill>
                <a:latin typeface="Verdana"/>
                <a:ea typeface="Inter"/>
              </a:rPr>
              <a:t>Por qué los datos importan: relevancia del análisis de datos en los negocios (10 min)</a:t>
            </a: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endParaRPr b="0" lang="es-MX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1800" spc="-1" strike="noStrike">
                <a:solidFill>
                  <a:srgbClr val="1a1a1a"/>
                </a:solidFill>
                <a:latin typeface="Verdana"/>
                <a:ea typeface="Inter"/>
              </a:rPr>
              <a:t>Ejemplo práctico ( Análisis de campañas) (80 min)</a:t>
            </a: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pc="-1" strike="noStrike">
                <a:solidFill>
                  <a:srgbClr val="1a1a1a"/>
                </a:solidFill>
                <a:latin typeface="Verdana"/>
                <a:ea typeface="Inter"/>
              </a:rPr>
              <a:t>📊 </a:t>
            </a:r>
            <a:r>
              <a:rPr b="0" lang="es-CO" sz="1800" spc="-1" strike="noStrike">
                <a:solidFill>
                  <a:srgbClr val="1a1a1a"/>
                </a:solidFill>
                <a:latin typeface="Verdana"/>
                <a:ea typeface="Inter"/>
              </a:rPr>
              <a:t>Midiendo resultados: tasas de conversión y su interpretación práctica </a:t>
            </a: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pc="-1" strike="noStrike">
                <a:solidFill>
                  <a:srgbClr val="1a1a1a"/>
                </a:solidFill>
                <a:latin typeface="Verdana"/>
                <a:ea typeface="Inter"/>
              </a:rPr>
              <a:t>💰 </a:t>
            </a:r>
            <a:r>
              <a:rPr b="0" lang="es-CO" sz="1800" spc="-1" strike="noStrike">
                <a:solidFill>
                  <a:srgbClr val="1a1a1a"/>
                </a:solidFill>
                <a:latin typeface="Verdana"/>
                <a:ea typeface="Inter"/>
              </a:rPr>
              <a:t>Evaluando impacto: rentabilidad de campañas con ROI y ROMI </a:t>
            </a: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1800" spc="-1" strike="noStrike">
                <a:solidFill>
                  <a:srgbClr val="1a1a1a"/>
                </a:solidFill>
                <a:latin typeface="Verdana"/>
                <a:ea typeface="Inter"/>
              </a:rPr>
              <a:t>🤔 </a:t>
            </a:r>
            <a:r>
              <a:rPr b="0" lang="es-CO" sz="1800" spc="-1" strike="noStrike">
                <a:solidFill>
                  <a:srgbClr val="1a1a1a"/>
                </a:solidFill>
                <a:latin typeface="Verdana"/>
                <a:ea typeface="Inter"/>
              </a:rPr>
              <a:t>Reflexión y discusión: aprendizajes clave y aplicaciones al mundo real (10 min)</a:t>
            </a: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ln w="0">
            <a:noFill/>
          </a:ln>
        </p:spPr>
      </p:pic>
      <p:sp>
        <p:nvSpPr>
          <p:cNvPr id="83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760" cy="1041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pc="-1" strike="noStrike">
                <a:solidFill>
                  <a:srgbClr val="1a1a1a"/>
                </a:solidFill>
                <a:latin typeface="Inter ExtraBold"/>
                <a:ea typeface="Inter ExtraBold"/>
              </a:rPr>
              <a:t>Agenda</a:t>
            </a:r>
            <a:endParaRPr b="0" lang="es-MX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213;p33"/>
          <p:cNvSpPr/>
          <p:nvPr/>
        </p:nvSpPr>
        <p:spPr>
          <a:xfrm>
            <a:off x="228600" y="1952280"/>
            <a:ext cx="2724120" cy="29617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Arial"/>
              </a:rPr>
              <a:t>Comprender la importancia de medir en los negocios</a:t>
            </a: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Google Shape;214;p33"/>
          <p:cNvSpPr/>
          <p:nvPr/>
        </p:nvSpPr>
        <p:spPr>
          <a:xfrm>
            <a:off x="3209400" y="1952280"/>
            <a:ext cx="2724120" cy="29617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pc="-1" strike="noStrike">
                <a:solidFill>
                  <a:srgbClr val="000000"/>
                </a:solidFill>
                <a:latin typeface="Arial"/>
                <a:ea typeface="Arial"/>
              </a:rPr>
              <a:t>Analizar datos de campañas de marketing</a:t>
            </a: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Google Shape;215;p33"/>
          <p:cNvSpPr/>
          <p:nvPr/>
        </p:nvSpPr>
        <p:spPr>
          <a:xfrm>
            <a:off x="6190560" y="1952280"/>
            <a:ext cx="2724120" cy="29617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Arial"/>
              </a:rPr>
              <a:t>Determinar la rentabilidad para el negocio de campañas</a:t>
            </a: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ln w="0">
            <a:noFill/>
          </a:ln>
        </p:spPr>
      </p:pic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760" cy="1041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pc="-1" strike="noStrike">
                <a:solidFill>
                  <a:srgbClr val="1a1a1a"/>
                </a:solidFill>
                <a:latin typeface="Inter ExtraBold"/>
                <a:ea typeface="Inter ExtraBold"/>
              </a:rPr>
              <a:t>Objetivo</a:t>
            </a:r>
            <a:endParaRPr b="0" lang="es-MX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3760" cy="759960"/>
          </a:xfrm>
          <a:prstGeom prst="rect">
            <a:avLst/>
          </a:prstGeom>
          <a:ln w="0">
            <a:noFill/>
          </a:ln>
        </p:spPr>
      </p:pic>
      <p:pic>
        <p:nvPicPr>
          <p:cNvPr id="90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3760" cy="759960"/>
          </a:xfrm>
          <a:prstGeom prst="rect">
            <a:avLst/>
          </a:prstGeom>
          <a:ln w="0">
            <a:noFill/>
          </a:ln>
        </p:spPr>
      </p:pic>
      <p:pic>
        <p:nvPicPr>
          <p:cNvPr id="91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3760" cy="75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9760" cy="25275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pc="-1" strike="noStrike">
                <a:solidFill>
                  <a:srgbClr val="f2f1ee"/>
                </a:solidFill>
                <a:latin typeface="Inter ExtraBold"/>
                <a:ea typeface="Inter ExtraBold"/>
              </a:rPr>
              <a:t>!Vayamos a la práctica!</a:t>
            </a:r>
            <a:endParaRPr b="0" lang="es-MX" sz="4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3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7960" cy="191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9760" cy="1041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pc="-1" strike="noStrike">
                <a:solidFill>
                  <a:srgbClr val="1a1a1a"/>
                </a:solidFill>
                <a:latin typeface="Inter ExtraBold"/>
                <a:ea typeface="Inter ExtraBold"/>
              </a:rPr>
              <a:t>Thanks      for coming!</a:t>
            </a:r>
            <a:endParaRPr b="0" lang="es-MX" sz="4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4760" cy="644400"/>
          </a:xfrm>
          <a:prstGeom prst="rect">
            <a:avLst/>
          </a:prstGeom>
          <a:ln w="0">
            <a:noFill/>
          </a:ln>
        </p:spPr>
      </p:pic>
      <p:pic>
        <p:nvPicPr>
          <p:cNvPr id="96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6160" cy="19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1459</TotalTime>
  <Application>LibreOffice/7.5.0.3$Windows_X86_64 LibreOffice_project/c21113d003cd3efa8c53188764377a8272d9d6de</Application>
  <AppVersion>15.0000</AppVersion>
  <Words>1567</Words>
  <Paragraphs>165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2025-08-20T11:29:57Z</dcterms:modified>
  <cp:revision>19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35</vt:i4>
  </property>
  <property fmtid="{D5CDD505-2E9C-101B-9397-08002B2CF9AE}" pid="3" name="Notes">
    <vt:i4>46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46</vt:i4>
  </property>
</Properties>
</file>