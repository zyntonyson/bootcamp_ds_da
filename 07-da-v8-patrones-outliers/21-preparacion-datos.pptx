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presentation.xml" ContentType="application/vnd.openxmlformats-officedocument.presentationml.presentation.main+xml"/>
  <Override PartName="/ppt/slideMasters/slideMaster26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_rels/slideMaster13.xml.rels" ContentType="application/vnd.openxmlformats-package.relationships+xml"/>
  <Override PartName="/ppt/slideMasters/_rels/slideMaster26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25.xml.rels" ContentType="application/vnd.openxmlformats-package.relationships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_rels/slideLayout23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2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7.xml" ContentType="application/vnd.openxmlformats-officedocument.presentationml.slide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76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9144000" cy="51435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13.xml"/><Relationship Id="rId4" Type="http://schemas.openxmlformats.org/officeDocument/2006/relationships/slideMaster" Target="slideMasters/slideMaster25.xml"/><Relationship Id="rId5" Type="http://schemas.openxmlformats.org/officeDocument/2006/relationships/slideMaster" Target="slideMasters/slideMaster2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7A9B067-4864-4AD1-B2AF-E5224A1BA23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9193239-792B-4EFC-958D-C81D72928CF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97978F-2F7E-4ED8-B651-799674B855F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8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09F5F70-16D1-44D3-ADED-CC27229C57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D142C3E-A380-4AED-AB11-CC5FD1A855A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4485CE2-DE81-4F51-8EDA-9B660292D95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48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5925B3F-24B8-49EC-BB32-208784B93C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15E6536-531F-4749-A3E5-D09439FCD3A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0452136-EDFE-4E21-85BD-093E5B175E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entered 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3BA230F-F680-4027-B86E-2D1433550C2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Title, 2 Content and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CB3667F-6587-440C-8C5A-20071CD04FA0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Title Content and 2 Conte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43442C6-B1D7-4CDF-B540-89F6AAF53DDC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Predeterminado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2D599A-F680-4937-8D1B-A1AB0DC7172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Predeterminado 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348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25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081BB25-C270-48A2-BC76-3C00618E12D5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Predeterminado 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5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6"/>
          <p:cNvSpPr>
            <a:spLocks noGrp="1"/>
          </p:cNvSpPr>
          <p:nvPr>
            <p:ph type="sldNum" idx="15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9EE3F1-5364-4E3E-8B76-01E0C10AA3C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3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PlaceHolder 7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38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2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8"/>
          <p:cNvSpPr>
            <a:spLocks noGrp="1"/>
          </p:cNvSpPr>
          <p:nvPr>
            <p:ph type="sldNum" idx="16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BDFD6C5-978F-4DB0-A03C-AF2358817F8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4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sldNum" idx="17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D3935FA-47F6-4C53-A573-EF9DD99ECB9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840" cy="853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840" cy="297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925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redeterminado 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ldNum" idx="18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4157C93-77DA-4A18-9F15-8833157C3DE1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Predeterminado 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348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sldNum" idx="19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800FF3-E437-4873-8BB9-EAF72A2A9747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Predeterminado 7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 type="sldNum" idx="20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8B48003-47F0-40F2-AC49-BBCF8E5684E3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redeterminado 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sldNum" idx="21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121109-A7A3-44AA-A0E4-A7441CA1093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redeterminado 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sldNum" idx="22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680825-7513-4FB8-B851-8EADCC64CE04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Tx" preserve="1">
  <p:cSld name="Predeterminado 10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sldNum" idx="23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31D8525-7CFB-45FC-AD18-093D481F9FEF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AndTwoObj" preserve="1">
  <p:cSld name="Predeterminado 1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3480" cy="85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0040" cy="2977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0040" cy="1416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sldNum" idx="24"/>
          </p:nvPr>
        </p:nvSpPr>
        <p:spPr>
          <a:xfrm>
            <a:off x="8472600" y="4663080"/>
            <a:ext cx="542160" cy="387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B43FC1-73E8-4B64-A96B-F82982E80538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7FF29013-2804-490B-8BE2-AA6084ACFF73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FC676674-B840-4F3F-BF04-CD39713A3C1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Num" idx="25"/>
          </p:nvPr>
        </p:nvSpPr>
        <p:spPr>
          <a:xfrm>
            <a:off x="8472600" y="4663080"/>
            <a:ext cx="540000" cy="3848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0349DFF-60E6-4395-9BF9-991E099FE336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Num" idx="26"/>
          </p:nvPr>
        </p:nvSpPr>
        <p:spPr>
          <a:xfrm>
            <a:off x="8472600" y="4663080"/>
            <a:ext cx="539280" cy="384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C38D863-8ACC-4247-84CD-2305A57AA5DA}" type="slidenum">
              <a:rPr b="0" lang="en" sz="1000" strike="noStrike" u="none">
                <a:solidFill>
                  <a:schemeClr val="dk2"/>
                </a:solidFill>
                <a:effectLst/>
                <a:uFillTx/>
                <a:latin typeface="Arial"/>
                <a:ea typeface="Arial"/>
              </a:rPr>
              <a:t>&lt;número&gt;</a:t>
            </a:fld>
            <a:endParaRPr b="0" lang="es-MX" sz="10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MX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b="0" lang="es-MX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b="0" lang="es-MX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b="0" lang="es-MX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MX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b="0" lang="es-MX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6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4080" y="638280"/>
            <a:ext cx="8514000" cy="2163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91440" anchor="t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59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Webinar 21 - Sprint 7</a:t>
            </a:r>
            <a:br>
              <a:rPr sz="6000"/>
            </a:br>
            <a:br>
              <a:rPr sz="2000"/>
            </a:br>
            <a:r>
              <a:rPr b="0" lang="en" sz="48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Análisis estadístico para detectar patrones y outliers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34;p14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152280" y="4320000"/>
            <a:ext cx="8680320" cy="35928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fld id="{FD8AD3B4-499C-497B-83F4-8AD1B751B54E}" type="datetime5">
              <a:rPr b="0" lang="en" sz="1200" strike="noStrike" u="none">
                <a:solidFill>
                  <a:srgbClr val="2a2a2a"/>
                </a:solidFill>
                <a:effectLst/>
                <a:uFillTx/>
                <a:latin typeface="Inter Medium"/>
                <a:ea typeface="Inter Medium"/>
              </a:rPr>
              <a:t>Jan 7, 2026</a:t>
            </a:fld>
            <a:endParaRPr b="0" lang="es-MX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7"/>
          <p:cNvSpPr/>
          <p:nvPr/>
        </p:nvSpPr>
        <p:spPr>
          <a:xfrm>
            <a:off x="180000" y="540000"/>
            <a:ext cx="8452080" cy="179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r>
              <a:rPr b="0" lang="en" sz="32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¿Cómo llegas hoy a la sesión?</a:t>
            </a:r>
            <a:br>
              <a:rPr sz="3200"/>
            </a:br>
            <a:r>
              <a:rPr b="0" lang="en" sz="2600" strike="noStrike" u="none">
                <a:solidFill>
                  <a:srgbClr val="666666"/>
                </a:solidFill>
                <a:effectLst/>
                <a:uFillTx/>
                <a:latin typeface="Inter ExtraBold"/>
                <a:ea typeface="Inter ExtraBold"/>
              </a:rPr>
              <a:t>Reacciona en la llamada</a:t>
            </a:r>
            <a:endParaRPr b="0" lang="es-MX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algn="l" pos="0"/>
              </a:tabLst>
            </a:pP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6" name="Google Shape;49;p 2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7520" cy="185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7" name=""/>
          <p:cNvSpPr/>
          <p:nvPr/>
        </p:nvSpPr>
        <p:spPr>
          <a:xfrm>
            <a:off x="288000" y="1944000"/>
            <a:ext cx="19720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👏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Emocionado con el tema de hoy, ya lo conocía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"/>
          <p:cNvSpPr/>
          <p:nvPr/>
        </p:nvSpPr>
        <p:spPr>
          <a:xfrm>
            <a:off x="2664000" y="1944000"/>
            <a:ext cx="19720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2664000" y="1944360"/>
            <a:ext cx="1972080" cy="296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👍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para mi pero con ganas de aprender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4968000" y="1944720"/>
            <a:ext cx="19720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😮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Tema nuevo y hoy deseo aclarar mis dudas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6948000" y="1945080"/>
            <a:ext cx="1972080" cy="268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s-MX" sz="8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😵‍💫</a:t>
            </a:r>
            <a:endParaRPr b="0" lang="es-MX" sz="8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s-MX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Apenas voy comenzando el tema y es nuevo para mi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240;p 1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58240" cy="185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322920" y="817560"/>
            <a:ext cx="6129720" cy="1855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sp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s-ES" sz="6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Midamos los ánimos</a:t>
            </a:r>
            <a:endParaRPr b="0" lang="es-MX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ubTitle"/>
          </p:nvPr>
        </p:nvSpPr>
        <p:spPr>
          <a:xfrm>
            <a:off x="152280" y="1440000"/>
            <a:ext cx="8514000" cy="33811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endParaRPr b="0" lang="es-MX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Bienvenida ( 10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del proyecto del sprint (10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Revisión de análisis estadístico EverPeak y carga a GitHub (15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1a1a1a"/>
              </a:buClr>
              <a:buFont typeface="Inter"/>
              <a:buAutoNum type="arabicPeriod"/>
            </a:pPr>
            <a:r>
              <a:rPr b="0" lang="es-CO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Proyecto colaborativo: Megaline (90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Clr>
                <a:srgbClr val="1a1a1a"/>
              </a:buClr>
              <a:buFont typeface="Inter"/>
              <a:buAutoNum type="arabicPeriod"/>
            </a:pPr>
            <a:r>
              <a:rPr b="0" lang="en" sz="2100" strike="noStrike" u="none">
                <a:solidFill>
                  <a:srgbClr val="1a1a1a"/>
                </a:solidFill>
                <a:effectLst/>
                <a:uFillTx/>
                <a:latin typeface="Inter"/>
                <a:ea typeface="Inter"/>
              </a:rPr>
              <a:t>🤔  Reflexión y discusión: ¿Qué aprendimos en esta sesión? (5 min)</a:t>
            </a:r>
            <a:endParaRPr b="0" lang="es-MX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5" name="Google Shape;49;p16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PlaceHolder 2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000" cy="1035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Agenda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5bd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213;p33"/>
          <p:cNvSpPr/>
          <p:nvPr/>
        </p:nvSpPr>
        <p:spPr>
          <a:xfrm>
            <a:off x="228600" y="1952280"/>
            <a:ext cx="2718360" cy="29559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Revisar un reporte de análisis de datos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Google Shape;214;p33"/>
          <p:cNvSpPr/>
          <p:nvPr/>
        </p:nvSpPr>
        <p:spPr>
          <a:xfrm>
            <a:off x="3209400" y="1952280"/>
            <a:ext cx="2718360" cy="29559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CO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Preparar un repositorio en GitHub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215;p33"/>
          <p:cNvSpPr/>
          <p:nvPr/>
        </p:nvSpPr>
        <p:spPr>
          <a:xfrm>
            <a:off x="6190560" y="1952280"/>
            <a:ext cx="2718360" cy="2955960"/>
          </a:xfrm>
          <a:prstGeom prst="roundRect">
            <a:avLst>
              <a:gd name="adj" fmla="val 9118"/>
            </a:avLst>
          </a:prstGeom>
          <a:solidFill>
            <a:schemeClr val="l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rIns="182880" tIns="91440" bIns="274320" anchor="b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-ES" sz="18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Cargar código en un repositorio</a:t>
            </a:r>
            <a:endParaRPr b="0" lang="es-MX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0" name="Google Shape;216;p3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96840" y="424800"/>
            <a:ext cx="8514000" cy="1035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0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Objetivo</a:t>
            </a:r>
            <a:endParaRPr b="0" lang="es-MX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2" name="Google Shape;218;p33" descr=""/>
          <p:cNvPicPr/>
          <p:nvPr/>
        </p:nvPicPr>
        <p:blipFill>
          <a:blip r:embed="rId2"/>
          <a:stretch/>
        </p:blipFill>
        <p:spPr>
          <a:xfrm>
            <a:off x="424800" y="2191320"/>
            <a:ext cx="468000" cy="75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3" name="Google Shape;219;p33" descr=""/>
          <p:cNvPicPr/>
          <p:nvPr/>
        </p:nvPicPr>
        <p:blipFill>
          <a:blip r:embed="rId3"/>
          <a:stretch/>
        </p:blipFill>
        <p:spPr>
          <a:xfrm>
            <a:off x="3468960" y="2191320"/>
            <a:ext cx="468000" cy="754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4" name="Google Shape;220;p33" descr=""/>
          <p:cNvPicPr/>
          <p:nvPr/>
        </p:nvPicPr>
        <p:blipFill>
          <a:blip r:embed="rId4"/>
          <a:stretch/>
        </p:blipFill>
        <p:spPr>
          <a:xfrm>
            <a:off x="6407280" y="2191320"/>
            <a:ext cx="468000" cy="754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96840" y="2386440"/>
            <a:ext cx="8514000" cy="252180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b">
            <a:noAutofit/>
          </a:bodyPr>
          <a:p>
            <a:pPr indent="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f2f1ee"/>
                </a:solidFill>
                <a:effectLst/>
                <a:uFillTx/>
                <a:latin typeface="Inter ExtraBold"/>
                <a:ea typeface="Inter ExtraBold"/>
              </a:rPr>
              <a:t>Vamos al código!</a:t>
            </a:r>
            <a:endParaRPr b="0" lang="es-MX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6" name="Google Shape;235;p35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862200" cy="185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8f6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311760" y="1914120"/>
            <a:ext cx="8514000" cy="1035720"/>
          </a:xfrm>
          <a:prstGeom prst="rect">
            <a:avLst/>
          </a:prstGeom>
          <a:noFill/>
          <a:ln w="0">
            <a:noFill/>
          </a:ln>
        </p:spPr>
        <p:txBody>
          <a:bodyPr lIns="0" rIns="0" tIns="91440" bIns="91440" anchor="t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800" strike="noStrike" u="none">
                <a:solidFill>
                  <a:srgbClr val="1a1a1a"/>
                </a:solidFill>
                <a:effectLst/>
                <a:uFillTx/>
                <a:latin typeface="Inter ExtraBold"/>
                <a:ea typeface="Inter ExtraBold"/>
              </a:rPr>
              <a:t>Thanks      for coming!</a:t>
            </a:r>
            <a:endParaRPr b="0" lang="es-MX" sz="4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oogle Shape;270;p39" descr=""/>
          <p:cNvPicPr/>
          <p:nvPr/>
        </p:nvPicPr>
        <p:blipFill>
          <a:blip r:embed="rId1"/>
          <a:stretch/>
        </p:blipFill>
        <p:spPr>
          <a:xfrm>
            <a:off x="3642120" y="2053080"/>
            <a:ext cx="639000" cy="6386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9" name="Google Shape;271;p39" descr=""/>
          <p:cNvPicPr/>
          <p:nvPr/>
        </p:nvPicPr>
        <p:blipFill>
          <a:blip r:embed="rId2"/>
          <a:stretch/>
        </p:blipFill>
        <p:spPr>
          <a:xfrm>
            <a:off x="4138560" y="228600"/>
            <a:ext cx="860400" cy="187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6350" cap="flat" cmpd="sng" algn="ctr">
          <a:prstDash val="solid"/>
          <a:miter/>
        </a:ln>
        <a:ln w="12700" cap="flat" cmpd="sng" algn="ctr">
          <a:prstDash val="solid"/>
          <a:miter/>
        </a:ln>
        <a:ln w="190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3849</TotalTime>
  <Application>LibreOffice/25.8.3.2$Windows_X86_64 LibreOffice_project/8ca8d55c161d602844f5428fa4b58097424e324e</Application>
  <AppVersion>15.0000</AppVersion>
  <Words>1731</Words>
  <Paragraphs>193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es-MX</dc:language>
  <cp:lastModifiedBy/>
  <dcterms:modified xsi:type="dcterms:W3CDTF">2026-01-07T13:47:22Z</dcterms:modified>
  <cp:revision>42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HiddenSlides">
    <vt:i4>36</vt:i4>
  </property>
  <property fmtid="{D5CDD505-2E9C-101B-9397-08002B2CF9AE}" pid="3" name="Notes">
    <vt:i4>50</vt:i4>
  </property>
  <property fmtid="{D5CDD505-2E9C-101B-9397-08002B2CF9AE}" pid="4" name="PresentationFormat">
    <vt:lpwstr>Presentación en pantalla (16:9)</vt:lpwstr>
  </property>
  <property fmtid="{D5CDD505-2E9C-101B-9397-08002B2CF9AE}" pid="5" name="Slides">
    <vt:i4>50</vt:i4>
  </property>
</Properties>
</file>