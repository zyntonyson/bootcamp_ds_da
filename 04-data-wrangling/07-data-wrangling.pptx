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fonts/Font_2_Inter_Italic.fntdata" ContentType="application/x-fontdata"/>
  <Override PartName="/ppt/fonts/Font_3_Inter_BoldItalic.fntdata" ContentType="application/x-fontdata"/>
  <Override PartName="/ppt/fonts/Font_1_Inter_Bold.fntdata" ContentType="application/x-fontdata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slide7.xml" ContentType="application/vnd.openxmlformats-officedocument.presentationml.slide+xml"/>
  <Override PartName="/ppt/_rels/presentation.xml.rels" ContentType="application/vnd.openxmlformats-package.relationships+xml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</p:sldIdLst>
  <p:sldSz cx="9144000" cy="5143500"/>
  <p:notesSz cx="6858000" cy="9144000"/>
  <p:embeddedFontLst>
    <p:embeddedFont>
      <p:font typeface="Inter SemiBold"/>
    </p:embeddedFont>
    <p:embeddedFont>
      <p:font typeface="Inter Medium"/>
    </p:embeddedFont>
    <p:embeddedFont>
      <p:font typeface="Inter"/>
      <p:bold r:id="rId10"/>
      <p:italic r:id="rId11"/>
      <p:boldItalic r:id="rId12"/>
    </p:embeddedFont>
    <p:embeddedFont>
      <p:font typeface="Inter ExtraBold"/>
    </p:embeddedFont>
    <p:embeddedFont>
      <p:font typeface="Microsoft YaHei"/>
    </p:embeddedFont>
    <p:embeddedFont>
      <p:font typeface="Lucida Sans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font" Target="fonts/Font_1_Inter_Bold.fntdata"/><Relationship Id="rId11" Type="http://schemas.openxmlformats.org/officeDocument/2006/relationships/font" Target="fonts/Font_2_Inter_Italic.fntdata"/><Relationship Id="rId12" Type="http://schemas.openxmlformats.org/officeDocument/2006/relationships/font" Target="fonts/Font_3_Inter_BoldItalic.fntdata"/><Relationship Id="rId1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D440932-63A2-4353-B30E-1D17287FB54A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s-MX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IG_NUMBER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sldNum" idx="2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4C37AE8-178A-46E6-800E-DFB98898F091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sldNum" idx="3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E1EE2C9-E0D8-485A-B676-13728B4BC2F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s-MX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HEADER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_AND_BOD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sldNum" idx="4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F480701-E86C-40C3-A207-FAA8287DAE0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_AND_TWO_COLUMNS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ldNum" idx="5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F20E25E-C1FB-4BCC-AB35-1A6413FE9C99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_ONL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sldNum" idx="6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589A8EC-C361-4875-A84B-13D56660F2E3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NE_COLUMN_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sldNum" idx="7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CC8BCF7-9027-45AA-BE4E-165670DDE14F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IN_POI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ldNum" idx="8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45D3E1E-A116-48B8-8958-A05BA8DDD492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TITLE_AND_DESCRIPTION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sldNum" idx="9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DCDC346-509A-4088-9AE5-8FB37FBAC458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APTION_ONL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sldNum" idx="10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 fontScale="55000" lnSpcReduction="19999"/>
          </a:bodyPr>
          <a:p>
            <a:pPr indent="0">
              <a:buNone/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slideLayout" Target="../slideLayouts/slideLayout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slideLayout" Target="../slideLayouts/slideLayout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64080" y="638280"/>
            <a:ext cx="8520120" cy="1666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0" bIns="91440" anchor="t">
            <a:sp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Webinar 7 - Sprint 4</a:t>
            </a: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en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Data Wrangling</a:t>
            </a:r>
            <a:r>
              <a:rPr b="0" lang="en" sz="20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: Ingeniería de características, Análisis y visualización de datos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" name="Google Shape;34;p14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6520" cy="194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" name=""/>
          <p:cNvSpPr txBox="1"/>
          <p:nvPr/>
        </p:nvSpPr>
        <p:spPr>
          <a:xfrm>
            <a:off x="242640" y="4500000"/>
            <a:ext cx="2997360" cy="413640"/>
          </a:xfrm>
          <a:prstGeom prst="rect">
            <a:avLst/>
          </a:prstGeom>
          <a:noFill/>
          <a:ln w="0">
            <a:noFill/>
          </a:ln>
        </p:spPr>
        <p:txBody>
          <a:bodyPr wrap="none" lIns="90000" rIns="90000" tIns="45000" bIns="45000" anchor="t">
            <a:spAutoFit/>
          </a:bodyPr>
          <a:p>
            <a:fld id="{1BE02C9C-1787-4BE1-ABD0-51DAA368D0A7}" type="datetime3">
              <a:rPr b="0" lang="es-MX" sz="2100" strike="noStrike" u="none">
                <a:solidFill>
                  <a:srgbClr val="000000"/>
                </a:solidFill>
                <a:effectLst/>
                <a:uFillTx/>
                <a:latin typeface="Inter SemiBold"/>
              </a:rPr>
              <a:t>22 de agosto de 2025</a:t>
            </a:fld>
            <a:endParaRPr b="0" lang="es-MX" sz="21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subTitle"/>
          </p:nvPr>
        </p:nvSpPr>
        <p:spPr>
          <a:xfrm>
            <a:off x="152280" y="2017800"/>
            <a:ext cx="8520120" cy="2989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n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Introducción (5min)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n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Data wrangling con datos de salud (80 min)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 🛠️ Formateo de variables (15 min)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📑 Ingenieria de características (20 min)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 📊 Explorando relaciones (45 min)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🧩 Uso de gráficos en pandas (15 min)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1a1a1a"/>
              </a:buClr>
              <a:buFont typeface="Inter"/>
              <a:buAutoNum type="arabicPeriod"/>
            </a:pPr>
            <a:r>
              <a:rPr b="0" lang="en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🤔  Reflexión y discusión: ¿Qué aprendimos en esta sesión? (10 min)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" name="Google Shape;49;p16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6520" cy="194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" name="PlaceHolder 2"/>
          <p:cNvSpPr>
            <a:spLocks noGrp="1"/>
          </p:cNvSpPr>
          <p:nvPr>
            <p:ph type="title"/>
          </p:nvPr>
        </p:nvSpPr>
        <p:spPr>
          <a:xfrm>
            <a:off x="96840" y="424800"/>
            <a:ext cx="8520120" cy="80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Agenda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13;p33"/>
          <p:cNvSpPr/>
          <p:nvPr/>
        </p:nvSpPr>
        <p:spPr>
          <a:xfrm>
            <a:off x="228600" y="1952280"/>
            <a:ext cx="2724480" cy="296208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800" strike="noStrike" u="none">
                <a:solidFill>
                  <a:srgbClr val="1a1a1a"/>
                </a:solidFill>
                <a:effectLst/>
                <a:uFillTx/>
                <a:latin typeface="Inter Medium"/>
                <a:ea typeface="Inter Medium"/>
              </a:rPr>
              <a:t>Analisis de conversión de tipos de datos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Google Shape;214;p33"/>
          <p:cNvSpPr/>
          <p:nvPr/>
        </p:nvSpPr>
        <p:spPr>
          <a:xfrm>
            <a:off x="3209400" y="1952280"/>
            <a:ext cx="2724480" cy="296208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800" strike="noStrike" u="none">
                <a:solidFill>
                  <a:srgbClr val="1a1a1a"/>
                </a:solidFill>
                <a:effectLst/>
                <a:uFillTx/>
                <a:latin typeface="Inter Medium"/>
                <a:ea typeface="Inter Medium"/>
              </a:rPr>
              <a:t>Resumir información y combinar fuentes de datos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Google Shape;215;p33"/>
          <p:cNvSpPr/>
          <p:nvPr/>
        </p:nvSpPr>
        <p:spPr>
          <a:xfrm>
            <a:off x="6190560" y="1952280"/>
            <a:ext cx="2724480" cy="296208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CO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Crear gráficos para explicar nuestros datos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" name="Google Shape;216;p33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6520" cy="194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96840" y="424800"/>
            <a:ext cx="8520120" cy="80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Objetivo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" name="Google Shape;218;p33" descr=""/>
          <p:cNvPicPr/>
          <p:nvPr/>
        </p:nvPicPr>
        <p:blipFill>
          <a:blip r:embed="rId2"/>
          <a:stretch/>
        </p:blipFill>
        <p:spPr>
          <a:xfrm>
            <a:off x="424800" y="2191320"/>
            <a:ext cx="474120" cy="760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8" name="Google Shape;219;p33" descr=""/>
          <p:cNvPicPr/>
          <p:nvPr/>
        </p:nvPicPr>
        <p:blipFill>
          <a:blip r:embed="rId3"/>
          <a:stretch/>
        </p:blipFill>
        <p:spPr>
          <a:xfrm>
            <a:off x="3468960" y="2191320"/>
            <a:ext cx="474120" cy="760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9" name="Google Shape;220;p33" descr=""/>
          <p:cNvPicPr/>
          <p:nvPr/>
        </p:nvPicPr>
        <p:blipFill>
          <a:blip r:embed="rId4"/>
          <a:stretch/>
        </p:blipFill>
        <p:spPr>
          <a:xfrm>
            <a:off x="6407280" y="2191320"/>
            <a:ext cx="474120" cy="760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96840" y="2386440"/>
            <a:ext cx="8520120" cy="252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f2f1ee"/>
                </a:solidFill>
                <a:effectLst/>
                <a:uFillTx/>
                <a:latin typeface="Inter ExtraBold"/>
                <a:ea typeface="Inter ExtraBold"/>
              </a:rPr>
              <a:t>Vamos a Jupyter!</a:t>
            </a:r>
            <a:endParaRPr b="0" lang="es-MX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" name="Google Shape;235;p35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8320" cy="191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213;p33"/>
          <p:cNvSpPr/>
          <p:nvPr/>
        </p:nvSpPr>
        <p:spPr>
          <a:xfrm>
            <a:off x="228600" y="1952280"/>
            <a:ext cx="2724480" cy="296208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800" strike="noStrike" u="none">
                <a:solidFill>
                  <a:srgbClr val="1a1a1a"/>
                </a:solidFill>
                <a:effectLst/>
                <a:uFillTx/>
                <a:latin typeface="Inter Medium"/>
                <a:ea typeface="Inter Medium"/>
              </a:rPr>
              <a:t>¿Qué métodos utilizarías para explorar un dataframe?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Google Shape;214;p33"/>
          <p:cNvSpPr/>
          <p:nvPr/>
        </p:nvSpPr>
        <p:spPr>
          <a:xfrm>
            <a:off x="3209400" y="1952280"/>
            <a:ext cx="2724480" cy="296208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800" strike="noStrike" u="none">
                <a:solidFill>
                  <a:srgbClr val="1a1a1a"/>
                </a:solidFill>
                <a:effectLst/>
                <a:uFillTx/>
                <a:latin typeface="Inter Medium"/>
                <a:ea typeface="Inter Medium"/>
              </a:rPr>
              <a:t>¿Qué nos llevamos de la conversión de tipos de datos?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Google Shape;215;p33"/>
          <p:cNvSpPr/>
          <p:nvPr/>
        </p:nvSpPr>
        <p:spPr>
          <a:xfrm>
            <a:off x="6190560" y="1952280"/>
            <a:ext cx="2724480" cy="296208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CO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¿Qué pasaría si quiero gráficas un df muy grande?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" name="Google Shape;216;p33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6520" cy="194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96840" y="424800"/>
            <a:ext cx="8520120" cy="80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Hora de cerrar ):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7" name="Google Shape;218;p33" descr=""/>
          <p:cNvPicPr/>
          <p:nvPr/>
        </p:nvPicPr>
        <p:blipFill>
          <a:blip r:embed="rId2"/>
          <a:stretch/>
        </p:blipFill>
        <p:spPr>
          <a:xfrm>
            <a:off x="424800" y="2191320"/>
            <a:ext cx="474120" cy="760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8" name="Google Shape;219;p33" descr=""/>
          <p:cNvPicPr/>
          <p:nvPr/>
        </p:nvPicPr>
        <p:blipFill>
          <a:blip r:embed="rId3"/>
          <a:stretch/>
        </p:blipFill>
        <p:spPr>
          <a:xfrm>
            <a:off x="3468960" y="2191320"/>
            <a:ext cx="474120" cy="760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9" name="Google Shape;220;p33" descr=""/>
          <p:cNvPicPr/>
          <p:nvPr/>
        </p:nvPicPr>
        <p:blipFill>
          <a:blip r:embed="rId4"/>
          <a:stretch/>
        </p:blipFill>
        <p:spPr>
          <a:xfrm>
            <a:off x="6407280" y="2191320"/>
            <a:ext cx="474120" cy="760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Google Shape;240;p36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6520" cy="194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6138000" cy="2677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¿Cómo te sientes luego de la sesión?</a:t>
            </a: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311760" y="1914120"/>
            <a:ext cx="8520120" cy="923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Thanks      for coming!</a:t>
            </a:r>
            <a:endParaRPr b="0" lang="es-MX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3" name="Google Shape;270;p39" descr=""/>
          <p:cNvPicPr/>
          <p:nvPr/>
        </p:nvPicPr>
        <p:blipFill>
          <a:blip r:embed="rId1"/>
          <a:stretch/>
        </p:blipFill>
        <p:spPr>
          <a:xfrm>
            <a:off x="3642120" y="2053080"/>
            <a:ext cx="645120" cy="644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4" name="Google Shape;271;p39" descr=""/>
          <p:cNvPicPr/>
          <p:nvPr/>
        </p:nvPicPr>
        <p:blipFill>
          <a:blip r:embed="rId2"/>
          <a:stretch/>
        </p:blipFill>
        <p:spPr>
          <a:xfrm>
            <a:off x="4138560" y="228600"/>
            <a:ext cx="866520" cy="194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369</TotalTime>
  <Application>LibreOffice/25.8.0.4$Windows_X86_64 LibreOffice_project/48f00303701489684e67c38c28aff00cd5929e67</Application>
  <AppVersion>15.0000</AppVersion>
  <Words>1611</Words>
  <Paragraphs>172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es-MX</dc:language>
  <cp:lastModifiedBy/>
  <dcterms:modified xsi:type="dcterms:W3CDTF">2025-08-22T19:04:57Z</dcterms:modified>
  <cp:revision>8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36</vt:i4>
  </property>
  <property fmtid="{D5CDD505-2E9C-101B-9397-08002B2CF9AE}" pid="3" name="Notes">
    <vt:i4>47</vt:i4>
  </property>
  <property fmtid="{D5CDD505-2E9C-101B-9397-08002B2CF9AE}" pid="4" name="PresentationFormat">
    <vt:lpwstr>Presentación en pantalla (16:9)</vt:lpwstr>
  </property>
  <property fmtid="{D5CDD505-2E9C-101B-9397-08002B2CF9AE}" pid="5" name="Slides">
    <vt:i4>47</vt:i4>
  </property>
</Properties>
</file>