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presentation.xml" ContentType="application/vnd.openxmlformats-officedocument.presentationml.presentation.main+xml"/>
  <Override PartName="/ppt/slideMasters/slideMaster26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_rels/slideMaster13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5.xml.rels" ContentType="application/vnd.openxmlformats-package.relationships+xml"/>
  <Override PartName="/ppt/slideLayouts/slideLayout23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_rels/slideLayout23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2.xml.rels" ContentType="application/vnd.openxmlformats-package.relationships+xml"/>
  <Override PartName="/ppt/presProps.xml" ContentType="application/vnd.openxmlformats-officedocument.presentationml.presPro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6.png" ContentType="image/png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slide7.xml" ContentType="application/vnd.openxmlformats-officedocument.presentationml.slide+xml"/>
  <Override PartName="/ppt/_rels/presentation.xml.rels" ContentType="application/vnd.openxmlformats-package.relationships+xml"/>
  <Override PartName="/_rels/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1" r:id="rId3"/>
    <p:sldMasterId id="2147483674" r:id="rId4"/>
    <p:sldMasterId id="2147483676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x="9144000" cy="51435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3.xml"/><Relationship Id="rId4" Type="http://schemas.openxmlformats.org/officeDocument/2006/relationships/slideMaster" Target="slideMasters/slideMaster25.xml"/><Relationship Id="rId5" Type="http://schemas.openxmlformats.org/officeDocument/2006/relationships/slideMaster" Target="slideMasters/slideMaster2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BBA5931-52C5-41D8-8F99-F0E0D7973A0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948FC6B-3348-4277-8E46-EE529126968F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sldNum" idx="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5B1FF9B-9996-4E1E-AC1E-290DFF9D2E2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sldNum" idx="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A8466E8-C362-4B73-A26F-876923E1379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5CB6F44-FC85-49B6-ACA4-8B7B6E8FA7B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entered Tex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sldNum" idx="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709FC98-3747-4E35-A7FB-FAB7820B5F5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Title, 2 Content and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2756A6C-1636-486E-BBE5-8918426D9FA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Title Content and 2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5"/>
          <p:cNvSpPr>
            <a:spLocks noGrp="1"/>
          </p:cNvSpPr>
          <p:nvPr>
            <p:ph type="sldNum" idx="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E37C578A-8D12-4406-8377-C1CCB095B5BB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5"/>
          <p:cNvSpPr>
            <a:spLocks noGrp="1"/>
          </p:cNvSpPr>
          <p:nvPr>
            <p:ph type="sldNum" idx="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35C3CD2-DC1F-4DF5-BD6D-37258C0CF9B4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sldNum" idx="1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1F09031A-D208-401A-87A1-5A36D99EEEDA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 type="sldNum" idx="1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834498E-2C36-46B3-AD34-5CBB345444B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PlaceHolder 8"/>
          <p:cNvSpPr>
            <a:spLocks noGrp="1"/>
          </p:cNvSpPr>
          <p:nvPr>
            <p:ph type="sldNum" idx="1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8A686B7-D512-4573-B0B0-25BEFCD00335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4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sldNum" idx="1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BE5E9F3-2652-488E-A4D8-6BE6F48ACBF1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5280" cy="854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5280" cy="29790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Predeterminado 5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sldNum" idx="1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C28FDA4-1D0F-41EA-B357-3D2003CB74F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Predeterminado 6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sldNum" idx="15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AF91BAB9-A686-45BE-8D6B-7FB3678489D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Predeterminado 7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16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00C60CB-EFE2-45FE-994B-132FE9EFFBB6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Predeterminado 8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2"/>
          <p:cNvSpPr>
            <a:spLocks noGrp="1"/>
          </p:cNvSpPr>
          <p:nvPr>
            <p:ph type="sldNum" idx="17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D23DC3D3-9898-4CDC-A6FB-1FC51D4BA38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9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/>
          </p:cNvSpPr>
          <p:nvPr>
            <p:ph type="sldNum" idx="18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AC465FA-41E7-47D5-9617-83BA82ACDB1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Tx" preserve="1">
  <p:cSld name="Predeterminado 10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5"/>
          <p:cNvSpPr>
            <a:spLocks noGrp="1"/>
          </p:cNvSpPr>
          <p:nvPr>
            <p:ph type="sldNum" idx="19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75EE6CC-7B43-475B-9A34-9237ADB6235D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AndTwoObj" preserve="1">
  <p:cSld name="Predeterminado 1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2978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85000" lnSpcReduction="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sldNum" idx="20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C11DEDEE-26AF-447C-AFF4-E66E4AD26889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Predeterminad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21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911E987-CCAC-4103-82F9-42F7F4C9BC5E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Predeterminado 1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body"/>
          </p:nvPr>
        </p:nvSpPr>
        <p:spPr>
          <a:xfrm>
            <a:off x="457200" y="2761920"/>
            <a:ext cx="822492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625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22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9CFFE4B7-A635-48A5-8048-4B34E7CD69B3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Predeterminado 2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PlaceHolder 3"/>
          <p:cNvSpPr>
            <a:spLocks noGrp="1"/>
          </p:cNvSpPr>
          <p:nvPr>
            <p:ph type="body"/>
          </p:nvPr>
        </p:nvSpPr>
        <p:spPr>
          <a:xfrm>
            <a:off x="4674240" y="120348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4"/>
          <p:cNvSpPr>
            <a:spLocks noGrp="1"/>
          </p:cNvSpPr>
          <p:nvPr>
            <p:ph type="body"/>
          </p:nvPr>
        </p:nvSpPr>
        <p:spPr>
          <a:xfrm>
            <a:off x="45720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PlaceHolder 5"/>
          <p:cNvSpPr>
            <a:spLocks noGrp="1"/>
          </p:cNvSpPr>
          <p:nvPr>
            <p:ph type="body"/>
          </p:nvPr>
        </p:nvSpPr>
        <p:spPr>
          <a:xfrm>
            <a:off x="4674240" y="2761920"/>
            <a:ext cx="40114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5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6"/>
          <p:cNvSpPr>
            <a:spLocks noGrp="1"/>
          </p:cNvSpPr>
          <p:nvPr>
            <p:ph type="sldNum" idx="23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3869B40-4F08-414A-BF8F-79619774B927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redeterminado 3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4920" cy="854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45720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body"/>
          </p:nvPr>
        </p:nvSpPr>
        <p:spPr>
          <a:xfrm>
            <a:off x="323964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body"/>
          </p:nvPr>
        </p:nvSpPr>
        <p:spPr>
          <a:xfrm>
            <a:off x="6022080" y="120348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body"/>
          </p:nvPr>
        </p:nvSpPr>
        <p:spPr>
          <a:xfrm>
            <a:off x="45720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PlaceHolder 6"/>
          <p:cNvSpPr>
            <a:spLocks noGrp="1"/>
          </p:cNvSpPr>
          <p:nvPr>
            <p:ph type="body"/>
          </p:nvPr>
        </p:nvSpPr>
        <p:spPr>
          <a:xfrm>
            <a:off x="323964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PlaceHolder 7"/>
          <p:cNvSpPr>
            <a:spLocks noGrp="1"/>
          </p:cNvSpPr>
          <p:nvPr>
            <p:ph type="body"/>
          </p:nvPr>
        </p:nvSpPr>
        <p:spPr>
          <a:xfrm>
            <a:off x="6022080" y="2761920"/>
            <a:ext cx="2645280" cy="14184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25000" lnSpcReduction="19999"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PlaceHolder 8"/>
          <p:cNvSpPr>
            <a:spLocks noGrp="1"/>
          </p:cNvSpPr>
          <p:nvPr>
            <p:ph type="sldNum" idx="24"/>
          </p:nvPr>
        </p:nvSpPr>
        <p:spPr>
          <a:xfrm>
            <a:off x="8472600" y="4663080"/>
            <a:ext cx="543600" cy="38844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82B15DB0-D6E7-42E7-ABA2-C906D97DEB40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5"/>
          </p:nvPr>
        </p:nvSpPr>
        <p:spPr/>
        <p:txBody>
          <a:bodyPr/>
          <a:p>
            <a:fld id="{6C0FF5FA-EAF9-44CA-BDEC-F408A0933C26}" type="slidenum">
              <a:t>&lt;#&gt;</a:t>
            </a:fld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774F2C8-4B5C-49AC-9F9F-63E2CB5F85B0}" type="slidenum">
              <a:t>&lt;#&gt;</a:t>
            </a:fld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5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2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PlaceHolder 1"/>
          <p:cNvSpPr>
            <a:spLocks noGrp="1"/>
          </p:cNvSpPr>
          <p:nvPr>
            <p:ph type="sldNum" idx="25"/>
          </p:nvPr>
        </p:nvSpPr>
        <p:spPr>
          <a:xfrm>
            <a:off x="8472600" y="4663080"/>
            <a:ext cx="541440" cy="386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CEE034D-85BB-4EB3-9126-DF13B75621FC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sldNum" idx="26"/>
          </p:nvPr>
        </p:nvSpPr>
        <p:spPr>
          <a:xfrm>
            <a:off x="8472600" y="4663080"/>
            <a:ext cx="540720" cy="385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ctr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EFC663A-312E-4281-BE0E-6E76443C45D8}" type="slidenum">
              <a:rPr b="0" lang="en" sz="1000" strike="noStrike" u="none">
                <a:solidFill>
                  <a:schemeClr val="dk2"/>
                </a:solidFill>
                <a:effectLst/>
                <a:uFillTx/>
                <a:latin typeface="Arial"/>
                <a:ea typeface="Arial"/>
              </a:rPr>
              <a:t>&lt;número&gt;</a:t>
            </a:fld>
            <a:endParaRPr b="0" lang="es-MX" sz="10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title"/>
          </p:nvPr>
        </p:nvSpPr>
        <p:spPr>
          <a:xfrm>
            <a:off x="457200" y="205200"/>
            <a:ext cx="8229240" cy="85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s-MX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del texto de título</a:t>
            </a:r>
            <a:endParaRPr b="0" lang="es-MX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457200" y="1203480"/>
            <a:ext cx="8229240" cy="2982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lnSpcReduction="9999"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Pulse para editar el formato de texto del esquema</a:t>
            </a:r>
            <a:endParaRPr b="0" lang="es-MX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Segundo nivel del esquema</a:t>
            </a:r>
            <a:endParaRPr b="0" lang="es-MX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Tercer nivel del esquema</a:t>
            </a: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Cuarto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Quinto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Sexto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MX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Séptimo nivel del esquema</a:t>
            </a:r>
            <a:endParaRPr b="0" lang="es-MX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3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5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6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13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3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4080" y="638280"/>
            <a:ext cx="8515440" cy="2165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91440" anchor="t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Webinar 13 - Sprint 4</a:t>
            </a:r>
            <a:br>
              <a:rPr sz="6000"/>
            </a:br>
            <a:br>
              <a:rPr sz="2000"/>
            </a:br>
            <a:r>
              <a:rPr b="0" lang="en" sz="48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Análisis de usuarios con SQL: Escenario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3" name="Google Shape;34;p14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PlaceHolder 2"/>
          <p:cNvSpPr>
            <a:spLocks noGrp="1"/>
          </p:cNvSpPr>
          <p:nvPr>
            <p:ph type="subTitle"/>
          </p:nvPr>
        </p:nvSpPr>
        <p:spPr>
          <a:xfrm>
            <a:off x="152280" y="3202200"/>
            <a:ext cx="8681760" cy="316152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fld id="{7A9210F0-E758-4887-94D3-3D38E70E545E}" type="datetime5">
              <a:rPr b="0" lang="en" sz="1200" strike="noStrike" u="none">
                <a:solidFill>
                  <a:srgbClr val="2a2a2a"/>
                </a:solidFill>
                <a:effectLst/>
                <a:uFillTx/>
                <a:latin typeface="Inter Medium"/>
                <a:ea typeface="Inter Medium"/>
              </a:rPr>
              <a:t>Nov 10, 2025</a:t>
            </a:fld>
            <a:endParaRPr b="0" lang="es-MX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5" name="Google Shape;240;p 1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9680" cy="1872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322920" y="817560"/>
            <a:ext cx="6131160" cy="1853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91440" bIns="91440" anchor="t">
            <a:sp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s-ES" sz="6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Midamos los ánimos</a:t>
            </a:r>
            <a:endParaRPr b="0" lang="es-MX" sz="6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7"/>
          <p:cNvSpPr/>
          <p:nvPr/>
        </p:nvSpPr>
        <p:spPr>
          <a:xfrm>
            <a:off x="180000" y="540000"/>
            <a:ext cx="8453520" cy="179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91440" bIns="91440" anchor="t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r>
              <a:rPr b="0" lang="en" sz="32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¿Cómo llegas hoy a la sesión?</a:t>
            </a:r>
            <a:br>
              <a:rPr sz="3200"/>
            </a:br>
            <a:r>
              <a:rPr b="0" lang="en" sz="2600" strike="noStrike" u="none">
                <a:solidFill>
                  <a:srgbClr val="666666"/>
                </a:solidFill>
                <a:effectLst/>
                <a:uFillTx/>
                <a:latin typeface="Inter ExtraBold"/>
                <a:ea typeface="Inter ExtraBold"/>
              </a:rPr>
              <a:t>Reacciona en la llamada</a:t>
            </a:r>
            <a:endParaRPr b="0" lang="es-MX" sz="2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tabLst>
                <a:tab algn="l" pos="0"/>
              </a:tabLst>
            </a:pP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8" name="Google Shape;49;p 2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58960" cy="18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9" name=""/>
          <p:cNvSpPr/>
          <p:nvPr/>
        </p:nvSpPr>
        <p:spPr>
          <a:xfrm>
            <a:off x="288000" y="194400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👏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Emocionado con el tema de hoy, ya lo conocía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2664000" y="194400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2664000" y="1944360"/>
            <a:ext cx="1973520" cy="296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👍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para mi pero con ganas de aprender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1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4968000" y="194472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😮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Tema nuevo y hoy deseo aclarar mis dudas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"/>
          <p:cNvSpPr/>
          <p:nvPr/>
        </p:nvSpPr>
        <p:spPr>
          <a:xfrm>
            <a:off x="6948000" y="1945080"/>
            <a:ext cx="1973520" cy="268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 anchorCtr="1">
            <a:spAutoFit/>
          </a:bodyPr>
          <a:p>
            <a:pPr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0" lang="es-MX" sz="8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😵‍💫</a:t>
            </a:r>
            <a:endParaRPr b="0" lang="es-MX" sz="8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b="1" lang="es-MX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Apenas voy comenzando el tema y es nuevo para mi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2f1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subTitle"/>
          </p:nvPr>
        </p:nvSpPr>
        <p:spPr>
          <a:xfrm>
            <a:off x="152280" y="1440000"/>
            <a:ext cx="8515440" cy="33825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b="0" lang="es-MX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Bienvenida ( 10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Sesion del Jueves 20 Nov → 19 Nov 8 PM CDMX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Recorrido proyecto sprint 4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buClr>
                <a:srgbClr val="1a1a1a"/>
              </a:buClr>
              <a:buFont typeface="Inter"/>
              <a:buAutoNum type="arabicPeriod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Análisis de usuarios con SQL  (90 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Simulación de escenarios de conversión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Medición de impacto en negocio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432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s-CO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Comparación de escenarios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38088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1a1a1a"/>
              </a:buClr>
              <a:buFont typeface="Inter"/>
              <a:buAutoNum type="arabicPeriod"/>
            </a:pPr>
            <a:r>
              <a:rPr b="0" lang="en" sz="2100" strike="noStrike" u="none">
                <a:solidFill>
                  <a:srgbClr val="1a1a1a"/>
                </a:solidFill>
                <a:effectLst/>
                <a:uFillTx/>
                <a:latin typeface="Inter"/>
                <a:ea typeface="Inter"/>
              </a:rPr>
              <a:t>🤔  Reflexión y discusión: ¿Qué aprendimos en esta sesión? (10min)</a:t>
            </a:r>
            <a:endParaRPr b="0" lang="es-MX" sz="21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5" name="Google Shape;49;p16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6" name="PlaceHolder 2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Agenda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65bd8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213;p33"/>
          <p:cNvSpPr/>
          <p:nvPr/>
        </p:nvSpPr>
        <p:spPr>
          <a:xfrm>
            <a:off x="2286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Entender un </a:t>
            </a:r>
            <a:r>
              <a:rPr b="0" i="1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user journey</a:t>
            </a: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 y preparar los datos para su analisis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Google Shape;214;p33"/>
          <p:cNvSpPr/>
          <p:nvPr/>
        </p:nvSpPr>
        <p:spPr>
          <a:xfrm>
            <a:off x="320940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CO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Analizar la conversión de clientes usando embudos de conversión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215;p33"/>
          <p:cNvSpPr/>
          <p:nvPr/>
        </p:nvSpPr>
        <p:spPr>
          <a:xfrm>
            <a:off x="6190560" y="1952280"/>
            <a:ext cx="2719800" cy="2957400"/>
          </a:xfrm>
          <a:prstGeom prst="roundRect">
            <a:avLst>
              <a:gd name="adj" fmla="val 9118"/>
            </a:avLst>
          </a:prstGeom>
          <a:solidFill>
            <a:schemeClr val="lt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2880" rIns="182880" tIns="91440" bIns="274320" anchor="b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s-ES" sz="1800" strike="noStrike" u="non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Segmentar clientes por cohortes para su analisis </a:t>
            </a:r>
            <a:endParaRPr b="0" lang="es-MX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0" name="Google Shape;216;p33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1" name="PlaceHolder 1"/>
          <p:cNvSpPr>
            <a:spLocks noGrp="1"/>
          </p:cNvSpPr>
          <p:nvPr>
            <p:ph type="title"/>
          </p:nvPr>
        </p:nvSpPr>
        <p:spPr>
          <a:xfrm>
            <a:off x="96840" y="42480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0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Objetivo</a:t>
            </a:r>
            <a:endParaRPr b="0" lang="es-MX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2" name="Google Shape;218;p33" descr=""/>
          <p:cNvPicPr/>
          <p:nvPr/>
        </p:nvPicPr>
        <p:blipFill>
          <a:blip r:embed="rId2"/>
          <a:stretch/>
        </p:blipFill>
        <p:spPr>
          <a:xfrm>
            <a:off x="42480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3" name="Google Shape;219;p33" descr=""/>
          <p:cNvPicPr/>
          <p:nvPr/>
        </p:nvPicPr>
        <p:blipFill>
          <a:blip r:embed="rId3"/>
          <a:stretch/>
        </p:blipFill>
        <p:spPr>
          <a:xfrm>
            <a:off x="346896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4" name="Google Shape;220;p33" descr=""/>
          <p:cNvPicPr/>
          <p:nvPr/>
        </p:nvPicPr>
        <p:blipFill>
          <a:blip r:embed="rId4"/>
          <a:stretch/>
        </p:blipFill>
        <p:spPr>
          <a:xfrm>
            <a:off x="6407280" y="2191320"/>
            <a:ext cx="469440" cy="755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title"/>
          </p:nvPr>
        </p:nvSpPr>
        <p:spPr>
          <a:xfrm>
            <a:off x="96840" y="2386440"/>
            <a:ext cx="8515440" cy="252324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b">
            <a:no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f2f1ee"/>
                </a:solidFill>
                <a:effectLst/>
                <a:uFillTx/>
                <a:latin typeface="Inter ExtraBold"/>
                <a:ea typeface="Inter ExtraBold"/>
              </a:rPr>
              <a:t>Vamos al código!</a:t>
            </a:r>
            <a:endParaRPr b="0" lang="es-MX" sz="48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6" name="Google Shape;235;p35" descr=""/>
          <p:cNvPicPr/>
          <p:nvPr/>
        </p:nvPicPr>
        <p:blipFill>
          <a:blip r:embed="rId1"/>
          <a:stretch/>
        </p:blipFill>
        <p:spPr>
          <a:xfrm>
            <a:off x="228600" y="228600"/>
            <a:ext cx="863640" cy="1868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8f6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311760" y="1914120"/>
            <a:ext cx="8515440" cy="1037160"/>
          </a:xfrm>
          <a:prstGeom prst="rect">
            <a:avLst/>
          </a:prstGeom>
          <a:noFill/>
          <a:ln w="0">
            <a:noFill/>
          </a:ln>
        </p:spPr>
        <p:txBody>
          <a:bodyPr lIns="0" rIns="0" tIns="91440" bIns="91440" anchor="t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" sz="4800" strike="noStrike" u="none">
                <a:solidFill>
                  <a:srgbClr val="1a1a1a"/>
                </a:solidFill>
                <a:effectLst/>
                <a:uFillTx/>
                <a:latin typeface="Inter ExtraBold"/>
                <a:ea typeface="Inter ExtraBold"/>
              </a:rPr>
              <a:t>Thanks      for coming!</a:t>
            </a:r>
            <a:endParaRPr b="0" lang="es-MX" sz="4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28" name="Google Shape;270;p39" descr=""/>
          <p:cNvPicPr/>
          <p:nvPr/>
        </p:nvPicPr>
        <p:blipFill>
          <a:blip r:embed="rId1"/>
          <a:stretch/>
        </p:blipFill>
        <p:spPr>
          <a:xfrm>
            <a:off x="3642120" y="2053080"/>
            <a:ext cx="640440" cy="640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29" name="Google Shape;271;p39" descr=""/>
          <p:cNvPicPr/>
          <p:nvPr/>
        </p:nvPicPr>
        <p:blipFill>
          <a:blip r:embed="rId2"/>
          <a:stretch/>
        </p:blipFill>
        <p:spPr>
          <a:xfrm>
            <a:off x="4138560" y="228600"/>
            <a:ext cx="861840" cy="1893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6350" cap="flat" cmpd="sng" algn="ctr">
          <a:prstDash val="solid"/>
          <a:miter/>
        </a:ln>
        <a:ln w="12700" cap="flat" cmpd="sng" algn="ctr">
          <a:prstDash val="solid"/>
          <a:miter/>
        </a:ln>
        <a:ln w="190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2398</TotalTime>
  <Application>LibreOffice/25.8.2.2$Windows_X86_64 LibreOffice_project/d401f2107ccab8f924a8e2df40f573aab7605b6f</Application>
  <AppVersion>15.0000</AppVersion>
  <Words>1731</Words>
  <Paragraphs>193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es-MX</dc:language>
  <cp:lastModifiedBy/>
  <dcterms:modified xsi:type="dcterms:W3CDTF">2025-11-10T17:25:07Z</dcterms:modified>
  <cp:revision>34</cp:revision>
  <dc:subject/>
  <dc:title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HiddenSlides">
    <vt:i4>36</vt:i4>
  </property>
  <property fmtid="{D5CDD505-2E9C-101B-9397-08002B2CF9AE}" pid="3" name="Notes">
    <vt:i4>50</vt:i4>
  </property>
  <property fmtid="{D5CDD505-2E9C-101B-9397-08002B2CF9AE}" pid="4" name="PresentationFormat">
    <vt:lpwstr>Presentación en pantalla (16:9)</vt:lpwstr>
  </property>
  <property fmtid="{D5CDD505-2E9C-101B-9397-08002B2CF9AE}" pid="5" name="Slides">
    <vt:i4>50</vt:i4>
  </property>
</Properties>
</file>